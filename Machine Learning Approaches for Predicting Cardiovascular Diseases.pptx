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1"/>
  </p:sldMasterIdLst>
  <p:notesMasterIdLst>
    <p:notesMasterId r:id="rId27"/>
  </p:notesMasterIdLst>
  <p:sldIdLst>
    <p:sldId id="292" r:id="rId2"/>
    <p:sldId id="325" r:id="rId3"/>
    <p:sldId id="280" r:id="rId4"/>
    <p:sldId id="279" r:id="rId5"/>
    <p:sldId id="262" r:id="rId6"/>
    <p:sldId id="326" r:id="rId7"/>
    <p:sldId id="259" r:id="rId8"/>
    <p:sldId id="299" r:id="rId9"/>
    <p:sldId id="323" r:id="rId10"/>
    <p:sldId id="309" r:id="rId11"/>
    <p:sldId id="282" r:id="rId12"/>
    <p:sldId id="311" r:id="rId13"/>
    <p:sldId id="312" r:id="rId14"/>
    <p:sldId id="313" r:id="rId15"/>
    <p:sldId id="324" r:id="rId16"/>
    <p:sldId id="283" r:id="rId17"/>
    <p:sldId id="315" r:id="rId18"/>
    <p:sldId id="316" r:id="rId19"/>
    <p:sldId id="317" r:id="rId20"/>
    <p:sldId id="290" r:id="rId21"/>
    <p:sldId id="318" r:id="rId22"/>
    <p:sldId id="303" r:id="rId23"/>
    <p:sldId id="320" r:id="rId24"/>
    <p:sldId id="291" r:id="rId25"/>
    <p:sldId id="275"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2" autoAdjust="0"/>
    <p:restoredTop sz="94660"/>
  </p:normalViewPr>
  <p:slideViewPr>
    <p:cSldViewPr snapToGrid="0">
      <p:cViewPr varScale="1">
        <p:scale>
          <a:sx n="70" d="100"/>
          <a:sy n="70" d="100"/>
        </p:scale>
        <p:origin x="7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50"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51"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52"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53"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4"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55"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06"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1048607"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48608" name="Date Placeholder 3"/>
          <p:cNvSpPr>
            <a:spLocks noGrp="1"/>
          </p:cNvSpPr>
          <p:nvPr>
            <p:ph type="dt" sz="half" idx="10"/>
          </p:nvPr>
        </p:nvSpPr>
        <p:spPr/>
        <p:txBody>
          <a:bodyPr/>
          <a:lstStyle/>
          <a:p>
            <a:fld id="{3D6AE9DE-14C1-42EC-89CF-CB898A150C53}" type="datetime1">
              <a:rPr lang="en-US" smtClean="0"/>
              <a:t>11/22/2025</a:t>
            </a:fld>
            <a:endParaRPr lang="en-US"/>
          </a:p>
        </p:txBody>
      </p:sp>
      <p:sp>
        <p:nvSpPr>
          <p:cNvPr id="1048609" name="Footer Placeholder 4"/>
          <p:cNvSpPr>
            <a:spLocks noGrp="1"/>
          </p:cNvSpPr>
          <p:nvPr>
            <p:ph type="ftr" sz="quarter" idx="11"/>
          </p:nvPr>
        </p:nvSpPr>
        <p:spPr/>
        <p:txBody>
          <a:bodyPr/>
          <a:lstStyle/>
          <a:p>
            <a:r>
              <a:rPr lang="en-US"/>
              <a:t>FYP-Defence</a:t>
            </a:r>
          </a:p>
        </p:txBody>
      </p:sp>
      <p:sp>
        <p:nvSpPr>
          <p:cNvPr id="1048610"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1048611" name="Slide Number Placeholder 5"/>
          <p:cNvSpPr>
            <a:spLocks noGrp="1"/>
          </p:cNvSpPr>
          <p:nvPr>
            <p:ph type="sldNum" sz="quarter" idx="12"/>
          </p:nvPr>
        </p:nvSpPr>
        <p:spPr>
          <a:xfrm>
            <a:off x="531812" y="4529540"/>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17"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1048618"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19" name="Date Placeholder 3"/>
          <p:cNvSpPr>
            <a:spLocks noGrp="1"/>
          </p:cNvSpPr>
          <p:nvPr>
            <p:ph type="dt" sz="half" idx="10"/>
          </p:nvPr>
        </p:nvSpPr>
        <p:spPr/>
        <p:txBody>
          <a:bodyPr/>
          <a:lstStyle/>
          <a:p>
            <a:fld id="{57AE3903-2F96-43E5-B3FD-F3D7F89C074D}" type="datetime1">
              <a:rPr lang="en-US" smtClean="0"/>
              <a:t>11/22/2025</a:t>
            </a:fld>
            <a:endParaRPr lang="en-US"/>
          </a:p>
        </p:txBody>
      </p:sp>
      <p:sp>
        <p:nvSpPr>
          <p:cNvPr id="1048620" name="Footer Placeholder 4"/>
          <p:cNvSpPr>
            <a:spLocks noGrp="1"/>
          </p:cNvSpPr>
          <p:nvPr>
            <p:ph type="ftr" sz="quarter" idx="11"/>
          </p:nvPr>
        </p:nvSpPr>
        <p:spPr/>
        <p:txBody>
          <a:bodyPr/>
          <a:lstStyle/>
          <a:p>
            <a:r>
              <a:rPr lang="en-US"/>
              <a:t>FYP-Defence</a:t>
            </a:r>
          </a:p>
        </p:txBody>
      </p:sp>
      <p:sp>
        <p:nvSpPr>
          <p:cNvPr id="1048621"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22" name="Slide Number Placeholder 5"/>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9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104869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94" name="Date Placeholder 3"/>
          <p:cNvSpPr>
            <a:spLocks noGrp="1"/>
          </p:cNvSpPr>
          <p:nvPr>
            <p:ph type="dt" sz="half" idx="10"/>
          </p:nvPr>
        </p:nvSpPr>
        <p:spPr/>
        <p:txBody>
          <a:bodyPr/>
          <a:lstStyle/>
          <a:p>
            <a:fld id="{C02B9BB9-46B6-4775-AE31-DA327B45056F}" type="datetime1">
              <a:rPr lang="en-US" smtClean="0"/>
              <a:t>11/22/2025</a:t>
            </a:fld>
            <a:endParaRPr lang="en-US"/>
          </a:p>
        </p:txBody>
      </p:sp>
      <p:sp>
        <p:nvSpPr>
          <p:cNvPr id="1048695" name="Footer Placeholder 4"/>
          <p:cNvSpPr>
            <a:spLocks noGrp="1"/>
          </p:cNvSpPr>
          <p:nvPr>
            <p:ph type="ftr" sz="quarter" idx="11"/>
          </p:nvPr>
        </p:nvSpPr>
        <p:spPr/>
        <p:txBody>
          <a:bodyPr/>
          <a:lstStyle/>
          <a:p>
            <a:r>
              <a:rPr lang="en-US"/>
              <a:t>FYP-Defence</a:t>
            </a:r>
          </a:p>
        </p:txBody>
      </p:sp>
      <p:sp>
        <p:nvSpPr>
          <p:cNvPr id="1048696"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97" name="Slide Number Placeholder 5"/>
          <p:cNvSpPr>
            <a:spLocks noGrp="1"/>
          </p:cNvSpPr>
          <p:nvPr>
            <p:ph type="sldNum" sz="quarter" idx="12"/>
          </p:nvPr>
        </p:nvSpPr>
        <p:spPr>
          <a:xfrm>
            <a:off x="531812" y="3244139"/>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3" name="Title 7"/>
          <p:cNvSpPr>
            <a:spLocks noGrp="1"/>
          </p:cNvSpPr>
          <p:nvPr>
            <p:ph type="title"/>
          </p:nvPr>
        </p:nvSpPr>
        <p:spPr/>
        <p:txBody>
          <a:bodyPr/>
          <a:lstStyle/>
          <a:p>
            <a:r>
              <a:rPr lang="en-US"/>
              <a:t>Click to edit Master title style</a:t>
            </a:r>
            <a:endParaRPr lang="en-US" dirty="0"/>
          </a:p>
        </p:txBody>
      </p:sp>
      <p:sp>
        <p:nvSpPr>
          <p:cNvPr id="1048724"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5"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6" name="Date Placeholder 4"/>
          <p:cNvSpPr>
            <a:spLocks noGrp="1"/>
          </p:cNvSpPr>
          <p:nvPr>
            <p:ph type="dt" sz="half" idx="10"/>
          </p:nvPr>
        </p:nvSpPr>
        <p:spPr/>
        <p:txBody>
          <a:bodyPr/>
          <a:lstStyle/>
          <a:p>
            <a:fld id="{50CA13ED-6BF8-4D10-B877-346C758DCD3A}" type="datetime1">
              <a:rPr lang="en-US" smtClean="0"/>
              <a:t>11/22/2025</a:t>
            </a:fld>
            <a:endParaRPr lang="en-US"/>
          </a:p>
        </p:txBody>
      </p:sp>
      <p:sp>
        <p:nvSpPr>
          <p:cNvPr id="1048727" name="Footer Placeholder 5"/>
          <p:cNvSpPr>
            <a:spLocks noGrp="1"/>
          </p:cNvSpPr>
          <p:nvPr>
            <p:ph type="ftr" sz="quarter" idx="11"/>
          </p:nvPr>
        </p:nvSpPr>
        <p:spPr/>
        <p:txBody>
          <a:bodyPr/>
          <a:lstStyle/>
          <a:p>
            <a:r>
              <a:rPr lang="en-US"/>
              <a:t>FYP-Defence</a:t>
            </a:r>
          </a:p>
        </p:txBody>
      </p:sp>
      <p:sp>
        <p:nvSpPr>
          <p:cNvPr id="104872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9" name="Slide Number Placeholder 5"/>
          <p:cNvSpPr>
            <a:spLocks noGrp="1"/>
          </p:cNvSpPr>
          <p:nvPr>
            <p:ph type="sldNum" sz="quarter" idx="12"/>
          </p:nvPr>
        </p:nvSpPr>
        <p:spPr>
          <a:xfrm>
            <a:off x="531812" y="787782"/>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8" name="Title 9"/>
          <p:cNvSpPr>
            <a:spLocks noGrp="1"/>
          </p:cNvSpPr>
          <p:nvPr>
            <p:ph type="title"/>
          </p:nvPr>
        </p:nvSpPr>
        <p:spPr/>
        <p:txBody>
          <a:bodyPr/>
          <a:lstStyle/>
          <a:p>
            <a:r>
              <a:rPr lang="en-US"/>
              <a:t>Click to edit Master title style</a:t>
            </a:r>
            <a:endParaRPr lang="en-US" dirty="0"/>
          </a:p>
        </p:txBody>
      </p:sp>
      <p:sp>
        <p:nvSpPr>
          <p:cNvPr id="1048699"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0"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1"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2"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3" name="Date Placeholder 6"/>
          <p:cNvSpPr>
            <a:spLocks noGrp="1"/>
          </p:cNvSpPr>
          <p:nvPr>
            <p:ph type="dt" sz="half" idx="10"/>
          </p:nvPr>
        </p:nvSpPr>
        <p:spPr/>
        <p:txBody>
          <a:bodyPr/>
          <a:lstStyle/>
          <a:p>
            <a:fld id="{D9817360-F361-4993-BBE6-4A9D23B8696F}" type="datetime1">
              <a:rPr lang="en-US" smtClean="0"/>
              <a:t>11/22/2025</a:t>
            </a:fld>
            <a:endParaRPr lang="en-US"/>
          </a:p>
        </p:txBody>
      </p:sp>
      <p:sp>
        <p:nvSpPr>
          <p:cNvPr id="1048704" name="Footer Placeholder 7"/>
          <p:cNvSpPr>
            <a:spLocks noGrp="1"/>
          </p:cNvSpPr>
          <p:nvPr>
            <p:ph type="ftr" sz="quarter" idx="11"/>
          </p:nvPr>
        </p:nvSpPr>
        <p:spPr/>
        <p:txBody>
          <a:bodyPr/>
          <a:lstStyle/>
          <a:p>
            <a:r>
              <a:rPr lang="en-US"/>
              <a:t>FYP-Defence</a:t>
            </a:r>
          </a:p>
        </p:txBody>
      </p:sp>
      <p:sp>
        <p:nvSpPr>
          <p:cNvPr id="1048705"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06" name="Slide Number Placeholder 5"/>
          <p:cNvSpPr>
            <a:spLocks noGrp="1"/>
          </p:cNvSpPr>
          <p:nvPr>
            <p:ph type="sldNum" sz="quarter" idx="12"/>
          </p:nvPr>
        </p:nvSpPr>
        <p:spPr>
          <a:xfrm>
            <a:off x="531812" y="787782"/>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6" name="Title 1"/>
          <p:cNvSpPr>
            <a:spLocks noGrp="1"/>
          </p:cNvSpPr>
          <p:nvPr>
            <p:ph type="title"/>
          </p:nvPr>
        </p:nvSpPr>
        <p:spPr/>
        <p:txBody>
          <a:bodyPr/>
          <a:lstStyle/>
          <a:p>
            <a:r>
              <a:rPr lang="en-US"/>
              <a:t>Click to edit Master title style</a:t>
            </a:r>
            <a:endParaRPr lang="en-US" dirty="0"/>
          </a:p>
        </p:txBody>
      </p:sp>
      <p:sp>
        <p:nvSpPr>
          <p:cNvPr id="1048657" name="Date Placeholder 2"/>
          <p:cNvSpPr>
            <a:spLocks noGrp="1"/>
          </p:cNvSpPr>
          <p:nvPr>
            <p:ph type="dt" sz="half" idx="10"/>
          </p:nvPr>
        </p:nvSpPr>
        <p:spPr/>
        <p:txBody>
          <a:bodyPr/>
          <a:lstStyle/>
          <a:p>
            <a:fld id="{868EECFF-6E5F-4144-B1A7-5F715C8B017C}" type="datetime1">
              <a:rPr lang="en-US" smtClean="0"/>
              <a:t>11/22/2025</a:t>
            </a:fld>
            <a:endParaRPr lang="en-US"/>
          </a:p>
        </p:txBody>
      </p:sp>
      <p:sp>
        <p:nvSpPr>
          <p:cNvPr id="1048658" name="Footer Placeholder 3"/>
          <p:cNvSpPr>
            <a:spLocks noGrp="1"/>
          </p:cNvSpPr>
          <p:nvPr>
            <p:ph type="ftr" sz="quarter" idx="11"/>
          </p:nvPr>
        </p:nvSpPr>
        <p:spPr/>
        <p:txBody>
          <a:bodyPr/>
          <a:lstStyle/>
          <a:p>
            <a:r>
              <a:rPr lang="en-US"/>
              <a:t>FYP-Defence</a:t>
            </a:r>
          </a:p>
        </p:txBody>
      </p:sp>
      <p:sp>
        <p:nvSpPr>
          <p:cNvPr id="104865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60" name="Slide Number Placeholder 4"/>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7" name="Date Placeholder 1"/>
          <p:cNvSpPr>
            <a:spLocks noGrp="1"/>
          </p:cNvSpPr>
          <p:nvPr>
            <p:ph type="dt" sz="half" idx="10"/>
          </p:nvPr>
        </p:nvSpPr>
        <p:spPr/>
        <p:txBody>
          <a:bodyPr/>
          <a:lstStyle/>
          <a:p>
            <a:fld id="{94E2C67B-2D48-4378-BE5B-AFE93FBEE3F7}" type="datetime1">
              <a:rPr lang="en-US" smtClean="0"/>
              <a:t>11/22/2025</a:t>
            </a:fld>
            <a:endParaRPr lang="en-US"/>
          </a:p>
        </p:txBody>
      </p:sp>
      <p:sp>
        <p:nvSpPr>
          <p:cNvPr id="1048708" name="Footer Placeholder 2"/>
          <p:cNvSpPr>
            <a:spLocks noGrp="1"/>
          </p:cNvSpPr>
          <p:nvPr>
            <p:ph type="ftr" sz="quarter" idx="11"/>
          </p:nvPr>
        </p:nvSpPr>
        <p:spPr/>
        <p:txBody>
          <a:bodyPr/>
          <a:lstStyle/>
          <a:p>
            <a:r>
              <a:rPr lang="en-US"/>
              <a:t>FYP-Defence</a:t>
            </a:r>
          </a:p>
        </p:txBody>
      </p:sp>
      <p:sp>
        <p:nvSpPr>
          <p:cNvPr id="104870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10" name="Slide Number Placeholder 3"/>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7"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1048738"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39"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40" name="Date Placeholder 4"/>
          <p:cNvSpPr>
            <a:spLocks noGrp="1"/>
          </p:cNvSpPr>
          <p:nvPr>
            <p:ph type="dt" sz="half" idx="10"/>
          </p:nvPr>
        </p:nvSpPr>
        <p:spPr/>
        <p:txBody>
          <a:bodyPr/>
          <a:lstStyle/>
          <a:p>
            <a:fld id="{73DCF2FD-A8F1-4D60-90F2-0DDC7378D159}" type="datetime1">
              <a:rPr lang="en-US" smtClean="0"/>
              <a:t>11/22/2025</a:t>
            </a:fld>
            <a:endParaRPr lang="en-US"/>
          </a:p>
        </p:txBody>
      </p:sp>
      <p:sp>
        <p:nvSpPr>
          <p:cNvPr id="1048741" name="Footer Placeholder 5"/>
          <p:cNvSpPr>
            <a:spLocks noGrp="1"/>
          </p:cNvSpPr>
          <p:nvPr>
            <p:ph type="ftr" sz="quarter" idx="11"/>
          </p:nvPr>
        </p:nvSpPr>
        <p:spPr/>
        <p:txBody>
          <a:bodyPr/>
          <a:lstStyle/>
          <a:p>
            <a:r>
              <a:rPr lang="en-US"/>
              <a:t>FYP-Defence</a:t>
            </a:r>
          </a:p>
        </p:txBody>
      </p:sp>
      <p:sp>
        <p:nvSpPr>
          <p:cNvPr id="104874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43" name="Slide Number Placeholder 6"/>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79"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1048680"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81"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82" name="Date Placeholder 4"/>
          <p:cNvSpPr>
            <a:spLocks noGrp="1"/>
          </p:cNvSpPr>
          <p:nvPr>
            <p:ph type="dt" sz="half" idx="10"/>
          </p:nvPr>
        </p:nvSpPr>
        <p:spPr/>
        <p:txBody>
          <a:bodyPr/>
          <a:lstStyle/>
          <a:p>
            <a:fld id="{08167FE4-9878-4871-AC11-DACD246D7D40}" type="datetime1">
              <a:rPr lang="en-US" smtClean="0"/>
              <a:t>11/22/2025</a:t>
            </a:fld>
            <a:endParaRPr lang="en-US"/>
          </a:p>
        </p:txBody>
      </p:sp>
      <p:sp>
        <p:nvSpPr>
          <p:cNvPr id="1048683" name="Footer Placeholder 5"/>
          <p:cNvSpPr>
            <a:spLocks noGrp="1"/>
          </p:cNvSpPr>
          <p:nvPr>
            <p:ph type="ftr" sz="quarter" idx="11"/>
          </p:nvPr>
        </p:nvSpPr>
        <p:spPr/>
        <p:txBody>
          <a:bodyPr/>
          <a:lstStyle/>
          <a:p>
            <a:r>
              <a:rPr lang="en-US"/>
              <a:t>FYP-Defence</a:t>
            </a:r>
          </a:p>
        </p:txBody>
      </p:sp>
      <p:sp>
        <p:nvSpPr>
          <p:cNvPr id="1048684"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85"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1048717"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1048718"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19" name="Date Placeholder 3"/>
          <p:cNvSpPr>
            <a:spLocks noGrp="1"/>
          </p:cNvSpPr>
          <p:nvPr>
            <p:ph type="dt" sz="half" idx="10"/>
          </p:nvPr>
        </p:nvSpPr>
        <p:spPr/>
        <p:txBody>
          <a:bodyPr/>
          <a:lstStyle/>
          <a:p>
            <a:fld id="{D81304C3-B8E3-446C-91D8-4B24F523B1EE}" type="datetime1">
              <a:rPr lang="en-US" smtClean="0"/>
              <a:t>11/22/2025</a:t>
            </a:fld>
            <a:endParaRPr lang="en-US"/>
          </a:p>
        </p:txBody>
      </p:sp>
      <p:sp>
        <p:nvSpPr>
          <p:cNvPr id="1048720" name="Footer Placeholder 4"/>
          <p:cNvSpPr>
            <a:spLocks noGrp="1"/>
          </p:cNvSpPr>
          <p:nvPr>
            <p:ph type="ftr" sz="quarter" idx="11"/>
          </p:nvPr>
        </p:nvSpPr>
        <p:spPr/>
        <p:txBody>
          <a:bodyPr/>
          <a:lstStyle/>
          <a:p>
            <a:r>
              <a:rPr lang="en-US"/>
              <a:t>FYP-Defence</a:t>
            </a:r>
          </a:p>
        </p:txBody>
      </p:sp>
      <p:sp>
        <p:nvSpPr>
          <p:cNvPr id="104872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2" name="Slide Number Placeholder 5"/>
          <p:cNvSpPr>
            <a:spLocks noGrp="1"/>
          </p:cNvSpPr>
          <p:nvPr>
            <p:ph type="sldNum" sz="quarter" idx="12"/>
          </p:nvPr>
        </p:nvSpPr>
        <p:spPr>
          <a:xfrm>
            <a:off x="531812" y="3244139"/>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048670"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048671"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672"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73" name="Date Placeholder 3"/>
          <p:cNvSpPr>
            <a:spLocks noGrp="1"/>
          </p:cNvSpPr>
          <p:nvPr>
            <p:ph type="dt" sz="half" idx="10"/>
          </p:nvPr>
        </p:nvSpPr>
        <p:spPr/>
        <p:txBody>
          <a:bodyPr/>
          <a:lstStyle/>
          <a:p>
            <a:fld id="{1C0554CE-59EF-4699-AE39-6FFD206A32FA}" type="datetime1">
              <a:rPr lang="en-US" smtClean="0"/>
              <a:t>11/22/2025</a:t>
            </a:fld>
            <a:endParaRPr lang="en-US"/>
          </a:p>
        </p:txBody>
      </p:sp>
      <p:sp>
        <p:nvSpPr>
          <p:cNvPr id="1048674" name="Footer Placeholder 4"/>
          <p:cNvSpPr>
            <a:spLocks noGrp="1"/>
          </p:cNvSpPr>
          <p:nvPr>
            <p:ph type="ftr" sz="quarter" idx="11"/>
          </p:nvPr>
        </p:nvSpPr>
        <p:spPr/>
        <p:txBody>
          <a:bodyPr/>
          <a:lstStyle/>
          <a:p>
            <a:r>
              <a:rPr lang="en-US"/>
              <a:t>FYP-Defence</a:t>
            </a:r>
          </a:p>
        </p:txBody>
      </p:sp>
      <p:sp>
        <p:nvSpPr>
          <p:cNvPr id="1048675"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76" name="Slide Number Placeholder 5"/>
          <p:cNvSpPr>
            <a:spLocks noGrp="1"/>
          </p:cNvSpPr>
          <p:nvPr>
            <p:ph type="sldNum" sz="quarter" idx="12"/>
          </p:nvPr>
        </p:nvSpPr>
        <p:spPr>
          <a:xfrm>
            <a:off x="531812" y="3244139"/>
            <a:ext cx="779767" cy="365125"/>
          </a:xfrm>
        </p:spPr>
        <p:txBody>
          <a:bodyPr/>
          <a:lstStyle/>
          <a:p>
            <a:fld id="{CB4D3031-0AEB-4687-8E23-04446010D3FF}" type="slidenum">
              <a:rPr lang="en-US" smtClean="0"/>
              <a:t>‹#›</a:t>
            </a:fld>
            <a:endParaRPr lang="en-US"/>
          </a:p>
        </p:txBody>
      </p:sp>
      <p:sp>
        <p:nvSpPr>
          <p:cNvPr id="1048677"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048678"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1048711"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1048712"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1048713" name="Date Placeholder 4"/>
          <p:cNvSpPr>
            <a:spLocks noGrp="1"/>
          </p:cNvSpPr>
          <p:nvPr>
            <p:ph type="dt" sz="half" idx="10"/>
          </p:nvPr>
        </p:nvSpPr>
        <p:spPr/>
        <p:txBody>
          <a:bodyPr/>
          <a:lstStyle/>
          <a:p>
            <a:fld id="{6952E827-2AB2-427E-8828-A42F60B2588F}" type="datetime1">
              <a:rPr lang="en-US" smtClean="0"/>
              <a:t>11/22/2025</a:t>
            </a:fld>
            <a:endParaRPr lang="en-US"/>
          </a:p>
        </p:txBody>
      </p:sp>
      <p:sp>
        <p:nvSpPr>
          <p:cNvPr id="1048714" name="Footer Placeholder 5"/>
          <p:cNvSpPr>
            <a:spLocks noGrp="1"/>
          </p:cNvSpPr>
          <p:nvPr>
            <p:ph type="ftr" sz="quarter" idx="11"/>
          </p:nvPr>
        </p:nvSpPr>
        <p:spPr/>
        <p:txBody>
          <a:bodyPr/>
          <a:lstStyle/>
          <a:p>
            <a:r>
              <a:rPr lang="en-US"/>
              <a:t>FYP-Defence</a:t>
            </a:r>
          </a:p>
        </p:txBody>
      </p:sp>
      <p:sp>
        <p:nvSpPr>
          <p:cNvPr id="1048715"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16"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048661"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048662"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663"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1048664" name="Date Placeholder 4"/>
          <p:cNvSpPr>
            <a:spLocks noGrp="1"/>
          </p:cNvSpPr>
          <p:nvPr>
            <p:ph type="dt" sz="half" idx="10"/>
          </p:nvPr>
        </p:nvSpPr>
        <p:spPr/>
        <p:txBody>
          <a:bodyPr/>
          <a:lstStyle/>
          <a:p>
            <a:fld id="{34BA49D2-3DB7-4226-A7DB-AFD9BAA55DEF}" type="datetime1">
              <a:rPr lang="en-US" smtClean="0"/>
              <a:t>11/22/2025</a:t>
            </a:fld>
            <a:endParaRPr lang="en-US"/>
          </a:p>
        </p:txBody>
      </p:sp>
      <p:sp>
        <p:nvSpPr>
          <p:cNvPr id="1048665" name="Footer Placeholder 5"/>
          <p:cNvSpPr>
            <a:spLocks noGrp="1"/>
          </p:cNvSpPr>
          <p:nvPr>
            <p:ph type="ftr" sz="quarter" idx="11"/>
          </p:nvPr>
        </p:nvSpPr>
        <p:spPr/>
        <p:txBody>
          <a:bodyPr/>
          <a:lstStyle/>
          <a:p>
            <a:r>
              <a:rPr lang="en-US"/>
              <a:t>FYP-Defence</a:t>
            </a:r>
          </a:p>
        </p:txBody>
      </p:sp>
      <p:sp>
        <p:nvSpPr>
          <p:cNvPr id="1048666"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67"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
        <p:nvSpPr>
          <p:cNvPr id="1048668"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048669"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1048730"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104873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732"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1048733" name="Date Placeholder 4"/>
          <p:cNvSpPr>
            <a:spLocks noGrp="1"/>
          </p:cNvSpPr>
          <p:nvPr>
            <p:ph type="dt" sz="half" idx="10"/>
          </p:nvPr>
        </p:nvSpPr>
        <p:spPr/>
        <p:txBody>
          <a:bodyPr/>
          <a:lstStyle/>
          <a:p>
            <a:fld id="{F6F66DF9-0589-431D-8672-DC90B910BD17}" type="datetime1">
              <a:rPr lang="en-US" smtClean="0"/>
              <a:t>11/22/2025</a:t>
            </a:fld>
            <a:endParaRPr lang="en-US"/>
          </a:p>
        </p:txBody>
      </p:sp>
      <p:sp>
        <p:nvSpPr>
          <p:cNvPr id="1048734" name="Footer Placeholder 5"/>
          <p:cNvSpPr>
            <a:spLocks noGrp="1"/>
          </p:cNvSpPr>
          <p:nvPr>
            <p:ph type="ftr" sz="quarter" idx="11"/>
          </p:nvPr>
        </p:nvSpPr>
        <p:spPr/>
        <p:txBody>
          <a:bodyPr/>
          <a:lstStyle/>
          <a:p>
            <a:r>
              <a:rPr lang="en-US"/>
              <a:t>FYP-Defence</a:t>
            </a:r>
          </a:p>
        </p:txBody>
      </p:sp>
      <p:sp>
        <p:nvSpPr>
          <p:cNvPr id="1048735"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36"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86" name="Title 1"/>
          <p:cNvSpPr>
            <a:spLocks noGrp="1"/>
          </p:cNvSpPr>
          <p:nvPr>
            <p:ph type="title"/>
          </p:nvPr>
        </p:nvSpPr>
        <p:spPr/>
        <p:txBody>
          <a:bodyPr/>
          <a:lstStyle/>
          <a:p>
            <a:r>
              <a:rPr lang="en-US"/>
              <a:t>Click to edit Master title style</a:t>
            </a:r>
            <a:endParaRPr lang="en-US" dirty="0"/>
          </a:p>
        </p:txBody>
      </p:sp>
      <p:sp>
        <p:nvSpPr>
          <p:cNvPr id="1048687"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88" name="Date Placeholder 3"/>
          <p:cNvSpPr>
            <a:spLocks noGrp="1"/>
          </p:cNvSpPr>
          <p:nvPr>
            <p:ph type="dt" sz="half" idx="10"/>
          </p:nvPr>
        </p:nvSpPr>
        <p:spPr/>
        <p:txBody>
          <a:bodyPr/>
          <a:lstStyle/>
          <a:p>
            <a:fld id="{3A818E7B-2E1C-43C3-A6DD-DC057E6BA6F1}" type="datetime1">
              <a:rPr lang="en-US" smtClean="0"/>
              <a:t>11/22/2025</a:t>
            </a:fld>
            <a:endParaRPr lang="en-US"/>
          </a:p>
        </p:txBody>
      </p:sp>
      <p:sp>
        <p:nvSpPr>
          <p:cNvPr id="1048689" name="Footer Placeholder 4"/>
          <p:cNvSpPr>
            <a:spLocks noGrp="1"/>
          </p:cNvSpPr>
          <p:nvPr>
            <p:ph type="ftr" sz="quarter" idx="11"/>
          </p:nvPr>
        </p:nvSpPr>
        <p:spPr/>
        <p:txBody>
          <a:bodyPr/>
          <a:lstStyle/>
          <a:p>
            <a:r>
              <a:rPr lang="en-US"/>
              <a:t>FYP-Defence</a:t>
            </a:r>
          </a:p>
        </p:txBody>
      </p:sp>
      <p:sp>
        <p:nvSpPr>
          <p:cNvPr id="104869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91" name="Slide Number Placeholder 5"/>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44"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1048745"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46" name="Date Placeholder 3"/>
          <p:cNvSpPr>
            <a:spLocks noGrp="1"/>
          </p:cNvSpPr>
          <p:nvPr>
            <p:ph type="dt" sz="half" idx="10"/>
          </p:nvPr>
        </p:nvSpPr>
        <p:spPr/>
        <p:txBody>
          <a:bodyPr/>
          <a:lstStyle/>
          <a:p>
            <a:fld id="{60510C91-D168-484E-8A33-FD7F08A96286}" type="datetime1">
              <a:rPr lang="en-US" smtClean="0"/>
              <a:t>11/22/2025</a:t>
            </a:fld>
            <a:endParaRPr lang="en-US"/>
          </a:p>
        </p:txBody>
      </p:sp>
      <p:sp>
        <p:nvSpPr>
          <p:cNvPr id="1048747" name="Footer Placeholder 4"/>
          <p:cNvSpPr>
            <a:spLocks noGrp="1"/>
          </p:cNvSpPr>
          <p:nvPr>
            <p:ph type="ftr" sz="quarter" idx="11"/>
          </p:nvPr>
        </p:nvSpPr>
        <p:spPr/>
        <p:txBody>
          <a:bodyPr/>
          <a:lstStyle/>
          <a:p>
            <a:r>
              <a:rPr lang="en-US"/>
              <a:t>FYP-Defence</a:t>
            </a:r>
          </a:p>
        </p:txBody>
      </p:sp>
      <p:sp>
        <p:nvSpPr>
          <p:cNvPr id="104874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49" name="Slide Number Placeholder 5"/>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2" name="Group 22"/>
          <p:cNvGrpSpPr/>
          <p:nvPr/>
        </p:nvGrpSpPr>
        <p:grpSpPr>
          <a:xfrm>
            <a:off x="1" y="228600"/>
            <a:ext cx="2851516" cy="6638628"/>
            <a:chOff x="2487613" y="285750"/>
            <a:chExt cx="2428875" cy="5654676"/>
          </a:xfrm>
        </p:grpSpPr>
        <p:sp>
          <p:nvSpPr>
            <p:cNvPr id="1048576"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048577"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048578"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048579"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048580"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048581"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048582"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048583"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048584"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048585"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048586"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1048587"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3" name="Group 9"/>
          <p:cNvGrpSpPr/>
          <p:nvPr/>
        </p:nvGrpSpPr>
        <p:grpSpPr>
          <a:xfrm>
            <a:off x="27221" y="-786"/>
            <a:ext cx="2356674" cy="6854039"/>
            <a:chOff x="6627813" y="194833"/>
            <a:chExt cx="1952625" cy="5678918"/>
          </a:xfrm>
        </p:grpSpPr>
        <p:sp>
          <p:nvSpPr>
            <p:cNvPr id="1048588"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048589"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048590"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048591"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048592"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048593"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048594"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048595"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048596"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048597"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048598"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048599"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048600"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048601"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048602"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03"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3D06A4-B070-4BFD-AF55-2779036C349E}" type="datetime1">
              <a:rPr lang="en-US" smtClean="0"/>
              <a:t>11/22/2025</a:t>
            </a:fld>
            <a:endParaRPr lang="en-US"/>
          </a:p>
        </p:txBody>
      </p:sp>
      <p:sp>
        <p:nvSpPr>
          <p:cNvPr id="1048604"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FYP-Defence</a:t>
            </a:r>
          </a:p>
        </p:txBody>
      </p:sp>
      <p:sp>
        <p:nvSpPr>
          <p:cNvPr id="1048605"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B4D3031-0AEB-4687-8E23-04446010D3F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13EF0-56F8-78B9-EF53-7AC389F0A1A1}"/>
              </a:ext>
            </a:extLst>
          </p:cNvPr>
          <p:cNvSpPr>
            <a:spLocks noGrp="1"/>
          </p:cNvSpPr>
          <p:nvPr>
            <p:ph type="ctrTitle"/>
          </p:nvPr>
        </p:nvSpPr>
        <p:spPr>
          <a:xfrm>
            <a:off x="1511615" y="1383282"/>
            <a:ext cx="9168769" cy="1750844"/>
          </a:xfrm>
        </p:spPr>
        <p:txBody>
          <a:bodyPr>
            <a:normAutofit/>
          </a:bodyPr>
          <a:lstStyle/>
          <a:p>
            <a:pPr algn="ctr"/>
            <a:r>
              <a:rPr lang="en-US" sz="4000" b="1" dirty="0">
                <a:effectLst/>
                <a:latin typeface="Times New Roman" panose="02020603050405020304" pitchFamily="18" charset="0"/>
                <a:ea typeface="Calibri" panose="020F0502020204030204" pitchFamily="34" charset="0"/>
              </a:rPr>
              <a:t>Machine Learning Approaches for Predicting Cardiovascular Diseases</a:t>
            </a:r>
            <a:endParaRPr lang="en-US" sz="4000" b="1" dirty="0">
              <a:latin typeface="Times New Roman" panose="02020603050405020304" pitchFamily="18" charset="0"/>
            </a:endParaRPr>
          </a:p>
        </p:txBody>
      </p:sp>
      <p:sp>
        <p:nvSpPr>
          <p:cNvPr id="3" name="Subtitle 2">
            <a:extLst>
              <a:ext uri="{FF2B5EF4-FFF2-40B4-BE49-F238E27FC236}">
                <a16:creationId xmlns:a16="http://schemas.microsoft.com/office/drawing/2014/main" id="{EFB5D668-F89F-A825-0E45-B8A656E10B52}"/>
              </a:ext>
            </a:extLst>
          </p:cNvPr>
          <p:cNvSpPr>
            <a:spLocks noGrp="1"/>
          </p:cNvSpPr>
          <p:nvPr>
            <p:ph type="subTitle" idx="1"/>
          </p:nvPr>
        </p:nvSpPr>
        <p:spPr>
          <a:xfrm>
            <a:off x="4431870" y="5145206"/>
            <a:ext cx="3811588" cy="1110846"/>
          </a:xfrm>
        </p:spPr>
        <p:txBody>
          <a:bodyPr>
            <a:normAutofit fontScale="92500" lnSpcReduction="10000"/>
          </a:bodyPr>
          <a:lstStyle/>
          <a:p>
            <a:r>
              <a:rPr lang="en-US" sz="2000" b="1" dirty="0">
                <a:solidFill>
                  <a:schemeClr val="tx1"/>
                </a:solidFill>
                <a:latin typeface="Times New Roman" panose="02020603050405020304" pitchFamily="18" charset="0"/>
                <a:cs typeface="Times New Roman" panose="02020603050405020304" pitchFamily="18" charset="0"/>
              </a:rPr>
              <a:t>Presented By:</a:t>
            </a:r>
          </a:p>
          <a:p>
            <a:r>
              <a:rPr lang="en-US" b="1" dirty="0">
                <a:solidFill>
                  <a:schemeClr val="tx1"/>
                </a:solidFill>
                <a:latin typeface="Times New Roman" panose="02020603050405020304" pitchFamily="18" charset="0"/>
                <a:cs typeface="Times New Roman" panose="02020603050405020304" pitchFamily="18" charset="0"/>
              </a:rPr>
              <a:t>Name: Muqaddas Salahuddin</a:t>
            </a:r>
          </a:p>
          <a:p>
            <a:r>
              <a:rPr lang="en-US" b="1" dirty="0">
                <a:solidFill>
                  <a:schemeClr val="tx1"/>
                </a:solidFill>
                <a:latin typeface="Times New Roman" panose="02020603050405020304" pitchFamily="18" charset="0"/>
                <a:cs typeface="Times New Roman" panose="02020603050405020304" pitchFamily="18" charset="0"/>
              </a:rPr>
              <a:t>Team Leader</a:t>
            </a:r>
          </a:p>
        </p:txBody>
      </p:sp>
    </p:spTree>
    <p:extLst>
      <p:ext uri="{BB962C8B-B14F-4D97-AF65-F5344CB8AC3E}">
        <p14:creationId xmlns:p14="http://schemas.microsoft.com/office/powerpoint/2010/main" val="1507110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F85A8-8631-1976-1DBB-0EA2BA20920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063904C-282B-02BA-CCCF-56E3A38782B4}"/>
              </a:ext>
            </a:extLst>
          </p:cNvPr>
          <p:cNvSpPr>
            <a:spLocks noGrp="1"/>
          </p:cNvSpPr>
          <p:nvPr>
            <p:ph type="subTitle" idx="1"/>
          </p:nvPr>
        </p:nvSpPr>
        <p:spPr>
          <a:xfrm>
            <a:off x="2753195" y="1377893"/>
            <a:ext cx="5066971" cy="4176746"/>
          </a:xfrm>
        </p:spPr>
        <p:txBody>
          <a:bodyPr>
            <a:normAutofit/>
          </a:bodyPr>
          <a:lstStyle/>
          <a:p>
            <a:r>
              <a:rPr lang="en-US" sz="2000" b="1" dirty="0">
                <a:solidFill>
                  <a:schemeClr val="tx1"/>
                </a:solidFill>
                <a:latin typeface="Times New Roman" panose="02020603050405020304" pitchFamily="18" charset="0"/>
                <a:cs typeface="Times New Roman" panose="02020603050405020304" pitchFamily="18" charset="0"/>
              </a:rPr>
              <a:t>Team Members:</a:t>
            </a:r>
          </a:p>
          <a:p>
            <a:pPr marL="342900" indent="-342900">
              <a:buAutoNum type="arabicPeriod"/>
            </a:pPr>
            <a:r>
              <a:rPr lang="en-US" b="1" dirty="0">
                <a:solidFill>
                  <a:schemeClr val="tx1"/>
                </a:solidFill>
                <a:latin typeface="Times New Roman" panose="02020603050405020304" pitchFamily="18" charset="0"/>
                <a:cs typeface="Times New Roman" panose="02020603050405020304" pitchFamily="18" charset="0"/>
              </a:rPr>
              <a:t>Muqaddas Salahuddin</a:t>
            </a:r>
          </a:p>
          <a:p>
            <a:pPr marL="342900" indent="-342900">
              <a:buAutoNum type="arabicPeriod"/>
            </a:pPr>
            <a:r>
              <a:rPr lang="en-US" b="1" dirty="0">
                <a:solidFill>
                  <a:schemeClr val="tx1"/>
                </a:solidFill>
                <a:latin typeface="Times New Roman" panose="02020603050405020304" pitchFamily="18" charset="0"/>
                <a:cs typeface="Times New Roman" panose="02020603050405020304" pitchFamily="18" charset="0"/>
              </a:rPr>
              <a:t>Saad Ali khan Gondal</a:t>
            </a:r>
          </a:p>
          <a:p>
            <a:pPr marL="342900" indent="-342900">
              <a:buAutoNum type="arabicPeriod"/>
            </a:pPr>
            <a:r>
              <a:rPr lang="en-US" b="1" dirty="0">
                <a:solidFill>
                  <a:schemeClr val="tx1"/>
                </a:solidFill>
                <a:latin typeface="Times New Roman" panose="02020603050405020304" pitchFamily="18" charset="0"/>
                <a:cs typeface="Times New Roman" panose="02020603050405020304" pitchFamily="18" charset="0"/>
              </a:rPr>
              <a:t>Tehreem Fatima</a:t>
            </a:r>
          </a:p>
          <a:p>
            <a:pPr marL="342900" indent="-342900">
              <a:buFont typeface="Wingdings 3" charset="2"/>
              <a:buAutoNum type="arabicPeriod"/>
            </a:pPr>
            <a:r>
              <a:rPr lang="en-US" b="1" dirty="0">
                <a:solidFill>
                  <a:schemeClr val="tx1"/>
                </a:solidFill>
                <a:latin typeface="Times New Roman" panose="02020603050405020304" pitchFamily="18" charset="0"/>
                <a:cs typeface="Times New Roman" panose="02020603050405020304" pitchFamily="18" charset="0"/>
              </a:rPr>
              <a:t>Amina Shahid</a:t>
            </a:r>
          </a:p>
          <a:p>
            <a:pPr marL="342900" indent="-342900">
              <a:buFont typeface="Wingdings 3" charset="2"/>
              <a:buAutoNum type="arabicPeriod"/>
            </a:pPr>
            <a:r>
              <a:rPr lang="en-US" b="1" dirty="0">
                <a:solidFill>
                  <a:schemeClr val="tx1"/>
                </a:solidFill>
                <a:latin typeface="Times New Roman" panose="02020603050405020304" pitchFamily="18" charset="0"/>
                <a:cs typeface="Times New Roman" panose="02020603050405020304" pitchFamily="18" charset="0"/>
              </a:rPr>
              <a:t>Muhammad Hamza </a:t>
            </a:r>
          </a:p>
          <a:p>
            <a:pPr marL="342900" indent="-342900">
              <a:buFont typeface="Wingdings 3" charset="2"/>
              <a:buAutoNum type="arabicPeriod"/>
            </a:pPr>
            <a:r>
              <a:rPr lang="en-US" b="1" dirty="0">
                <a:solidFill>
                  <a:schemeClr val="tx1"/>
                </a:solidFill>
                <a:latin typeface="Times New Roman" panose="02020603050405020304" pitchFamily="18" charset="0"/>
                <a:cs typeface="Times New Roman" panose="02020603050405020304" pitchFamily="18" charset="0"/>
              </a:rPr>
              <a:t>Rashid Mehmood</a:t>
            </a:r>
          </a:p>
        </p:txBody>
      </p:sp>
    </p:spTree>
    <p:extLst>
      <p:ext uri="{BB962C8B-B14F-4D97-AF65-F5344CB8AC3E}">
        <p14:creationId xmlns:p14="http://schemas.microsoft.com/office/powerpoint/2010/main" val="793967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a:xfrm>
            <a:off x="3056949" y="547057"/>
            <a:ext cx="3603159" cy="846574"/>
          </a:xfrm>
        </p:spPr>
        <p:txBody>
          <a:bodyPr>
            <a:normAutofit/>
          </a:bodyPr>
          <a:lstStyle/>
          <a:p>
            <a:r>
              <a:rPr lang="en-US" sz="4500" b="1" dirty="0">
                <a:solidFill>
                  <a:schemeClr val="tx1"/>
                </a:solidFill>
                <a:latin typeface="Times New Roman" panose="02020603050405020304" pitchFamily="18" charset="0"/>
                <a:cs typeface="Times New Roman" panose="02020603050405020304" pitchFamily="18" charset="0"/>
              </a:rPr>
              <a:t>Outlines</a:t>
            </a:r>
          </a:p>
        </p:txBody>
      </p:sp>
      <p:sp>
        <p:nvSpPr>
          <p:cNvPr id="1048624" name="Content Placeholder 2"/>
          <p:cNvSpPr>
            <a:spLocks noGrp="1"/>
          </p:cNvSpPr>
          <p:nvPr>
            <p:ph idx="1"/>
          </p:nvPr>
        </p:nvSpPr>
        <p:spPr>
          <a:xfrm>
            <a:off x="2388209" y="1928417"/>
            <a:ext cx="5585798" cy="3735404"/>
          </a:xfrm>
        </p:spPr>
        <p:txBody>
          <a:bodyPr>
            <a:normAutofit/>
          </a:bodyPr>
          <a:lstStyle/>
          <a:p>
            <a:pPr>
              <a:buFont typeface="Wingdings" panose="05000000000000000000" pitchFamily="2" charset="2"/>
              <a:buChar char="Ø"/>
            </a:pP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Introduction</a:t>
            </a:r>
          </a:p>
          <a:p>
            <a:pPr>
              <a:buFont typeface="Wingdings" panose="05000000000000000000" pitchFamily="2" charset="2"/>
              <a:buChar char="Ø"/>
            </a:pP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Problem Statement</a:t>
            </a:r>
          </a:p>
          <a:p>
            <a:pPr>
              <a:buFont typeface="Wingdings" panose="05000000000000000000" pitchFamily="2" charset="2"/>
              <a:buChar char="Ø"/>
            </a:pP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Research Objectives</a:t>
            </a:r>
          </a:p>
          <a:p>
            <a:pPr>
              <a:buFont typeface="Wingdings" panose="05000000000000000000" pitchFamily="2" charset="2"/>
              <a:buChar char="Ø"/>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Research Work</a:t>
            </a:r>
          </a:p>
          <a:p>
            <a:pPr>
              <a:buFont typeface="Wingdings" panose="05000000000000000000" pitchFamily="2" charset="2"/>
              <a:buChar char="Ø"/>
            </a:pP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Data Collection</a:t>
            </a:r>
            <a:endPar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US"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Results</a:t>
            </a: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p>
          <a:p>
            <a:pPr>
              <a:buFont typeface="Wingdings" panose="05000000000000000000" pitchFamily="2" charset="2"/>
              <a:buChar char="Ø"/>
            </a:pP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Conclusion </a:t>
            </a:r>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CB4D3031-0AEB-4687-8E23-04446010D3FF}" type="slidenum">
              <a:rPr lang="en-US" smtClean="0"/>
              <a:t>3</a:t>
            </a:fld>
            <a:endParaRPr lang="en-US"/>
          </a:p>
        </p:txBody>
      </p:sp>
    </p:spTree>
    <p:extLst>
      <p:ext uri="{BB962C8B-B14F-4D97-AF65-F5344CB8AC3E}">
        <p14:creationId xmlns:p14="http://schemas.microsoft.com/office/powerpoint/2010/main" val="1275996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a:xfrm>
            <a:off x="3516374" y="741403"/>
            <a:ext cx="5159252" cy="823008"/>
          </a:xfrm>
        </p:spPr>
        <p:txBody>
          <a:bodyPr>
            <a:normAutofit/>
          </a:bodyPr>
          <a:lstStyle/>
          <a:p>
            <a:pPr algn="ctr"/>
            <a:r>
              <a:rPr lang="en-US" sz="4500" b="1" dirty="0">
                <a:solidFill>
                  <a:schemeClr val="tx1"/>
                </a:solidFill>
                <a:latin typeface="Times New Roman" panose="02020603050405020304" pitchFamily="18" charset="0"/>
                <a:cs typeface="Times New Roman" panose="02020603050405020304" pitchFamily="18" charset="0"/>
              </a:rPr>
              <a:t>Introduction</a:t>
            </a:r>
            <a:endParaRPr lang="en-US" sz="4500" b="1" dirty="0">
              <a:solidFill>
                <a:schemeClr val="tx1"/>
              </a:solidFill>
            </a:endParaRPr>
          </a:p>
        </p:txBody>
      </p:sp>
      <p:sp>
        <p:nvSpPr>
          <p:cNvPr id="1048624" name="Content Placeholder 2"/>
          <p:cNvSpPr>
            <a:spLocks noGrp="1"/>
          </p:cNvSpPr>
          <p:nvPr>
            <p:ph idx="1"/>
          </p:nvPr>
        </p:nvSpPr>
        <p:spPr>
          <a:xfrm>
            <a:off x="2243293" y="1791939"/>
            <a:ext cx="8661268" cy="3626222"/>
          </a:xfrm>
        </p:spPr>
        <p:txBody>
          <a:bodyPr>
            <a:normAutofit/>
          </a:bodyPr>
          <a:lstStyle/>
          <a:p>
            <a:pPr marL="0" indent="0" algn="just">
              <a:buNone/>
            </a:pPr>
            <a:r>
              <a:rPr lang="en-US" sz="2200" dirty="0">
                <a:solidFill>
                  <a:schemeClr val="tx1"/>
                </a:solidFill>
                <a:latin typeface="Times New Roman" panose="02020603050405020304" pitchFamily="18" charset="0"/>
                <a:cs typeface="Times New Roman" panose="02020603050405020304" pitchFamily="18" charset="0"/>
              </a:rPr>
              <a:t>Cardiovascular diseases remain a major global health concern, requiring improved detection methods. This research applies machine learning to predict conditions like myocardial infarction, addressing the issue of imbalanced datasets. Using models such as Fuzzy C-Means, </a:t>
            </a:r>
            <a:r>
              <a:rPr lang="en-US" sz="2200" dirty="0">
                <a:latin typeface="Times New Roman" panose="02020603050405020304" pitchFamily="18" charset="0"/>
                <a:ea typeface="Calibri" panose="020F0502020204030204" pitchFamily="34" charset="0"/>
              </a:rPr>
              <a:t>Quadratic Discriminant Analysis (QDA)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a:solidFill>
                  <a:schemeClr val="tx1">
                    <a:lumMod val="95000"/>
                    <a:lumOff val="5000"/>
                  </a:schemeClr>
                </a:solidFill>
                <a:latin typeface="Times New Roman" panose="02020603050405020304" pitchFamily="18" charset="0"/>
                <a:ea typeface="Calibri" panose="020F0502020204030204" pitchFamily="34" charset="0"/>
              </a:rPr>
              <a:t>Support Vector Machine (SVM)</a:t>
            </a:r>
            <a:r>
              <a:rPr lang="en-US" sz="2200" kern="100" dirty="0">
                <a:solidFill>
                  <a:schemeClr val="tx1">
                    <a:lumMod val="95000"/>
                    <a:lumOff val="5000"/>
                  </a:schemeClr>
                </a:solidFill>
                <a:latin typeface="Times New Roman" panose="02020603050405020304" pitchFamily="18" charset="0"/>
                <a:ea typeface="Calibri" panose="020F0502020204030204" pitchFamily="34" charset="0"/>
                <a:cs typeface="Arial" panose="020B0604020202020204" pitchFamily="34" charset="0"/>
              </a:rPr>
              <a:t> </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ea typeface="Calibri" panose="020F0502020204030204" pitchFamily="34" charset="0"/>
              </a:rPr>
              <a:t>Multi-layer Perceptron (MLP)</a:t>
            </a:r>
            <a:r>
              <a:rPr lang="en-US" sz="2200" dirty="0">
                <a:solidFill>
                  <a:schemeClr val="tx1"/>
                </a:solidFill>
                <a:latin typeface="Times New Roman" panose="02020603050405020304" pitchFamily="18" charset="0"/>
                <a:cs typeface="Times New Roman" panose="02020603050405020304" pitchFamily="18" charset="0"/>
              </a:rPr>
              <a:t>, and </a:t>
            </a:r>
            <a:r>
              <a:rPr lang="en-US" sz="2200" dirty="0">
                <a:latin typeface="Times New Roman" panose="02020603050405020304" pitchFamily="18" charset="0"/>
                <a:ea typeface="Calibri" panose="020F0502020204030204" pitchFamily="34" charset="0"/>
              </a:rPr>
              <a:t>Stochastic Gradient Descent (SGD)</a:t>
            </a:r>
            <a:r>
              <a:rPr lang="en-US" sz="2200" dirty="0">
                <a:solidFill>
                  <a:schemeClr val="tx1"/>
                </a:solidFill>
                <a:latin typeface="Times New Roman" panose="02020603050405020304" pitchFamily="18" charset="0"/>
                <a:cs typeface="Times New Roman" panose="02020603050405020304" pitchFamily="18" charset="0"/>
              </a:rPr>
              <a:t>, the study evaluates their performance. The study explores the performance of these classifiers and provides meaningful data for designing effective myocardial infarction prediction models. The results show how these machine learning techniques can enhance the ability to diagnose cardiovascular disorders.</a:t>
            </a:r>
            <a:endParaRPr lang="en-US" sz="2200" b="1"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CB4D3031-0AEB-4687-8E23-04446010D3FF}" type="slidenum">
              <a:rPr lang="en-US" smtClean="0"/>
              <a:t>4</a:t>
            </a:fld>
            <a:endParaRPr lang="en-US"/>
          </a:p>
        </p:txBody>
      </p:sp>
    </p:spTree>
    <p:extLst>
      <p:ext uri="{BB962C8B-B14F-4D97-AF65-F5344CB8AC3E}">
        <p14:creationId xmlns:p14="http://schemas.microsoft.com/office/powerpoint/2010/main" val="266546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Content Placeholder 2"/>
          <p:cNvSpPr>
            <a:spLocks noGrp="1"/>
          </p:cNvSpPr>
          <p:nvPr>
            <p:ph idx="1"/>
          </p:nvPr>
        </p:nvSpPr>
        <p:spPr>
          <a:xfrm>
            <a:off x="2261796" y="1974803"/>
            <a:ext cx="8312425" cy="2515310"/>
          </a:xfrm>
        </p:spPr>
        <p:txBody>
          <a:bodyPr>
            <a:normAutofit fontScale="96154"/>
          </a:bodyPr>
          <a:lstStyle/>
          <a:p>
            <a:pPr marL="0" indent="0" algn="just">
              <a:buNone/>
            </a:pPr>
            <a:r>
              <a:rPr lang="en-US" sz="2300" dirty="0">
                <a:solidFill>
                  <a:schemeClr val="tx1"/>
                </a:solidFill>
                <a:latin typeface="Times New Roman" panose="02020603050405020304" pitchFamily="18" charset="0"/>
                <a:cs typeface="Times New Roman" panose="02020603050405020304" pitchFamily="18" charset="0"/>
              </a:rPr>
              <a:t>Developing and improving prediction models for </a:t>
            </a:r>
            <a:r>
              <a:rPr lang="en-US" sz="2400" dirty="0">
                <a:solidFill>
                  <a:schemeClr val="tx1"/>
                </a:solidFill>
                <a:latin typeface="Times New Roman" panose="02020603050405020304" pitchFamily="18" charset="0"/>
                <a:cs typeface="Times New Roman" panose="02020603050405020304" pitchFamily="18" charset="0"/>
              </a:rPr>
              <a:t>Cardiovascular disease (CVD)</a:t>
            </a:r>
            <a:r>
              <a:rPr lang="en-US" sz="2300" dirty="0">
                <a:solidFill>
                  <a:schemeClr val="tx1"/>
                </a:solidFill>
                <a:latin typeface="Times New Roman" panose="02020603050405020304" pitchFamily="18" charset="0"/>
                <a:cs typeface="Times New Roman" panose="02020603050405020304" pitchFamily="18" charset="0"/>
              </a:rPr>
              <a:t> risk assessment is essential given the rising prevalence of cardiovascular diseases worldwide and the promise of ML for early diagnosis. However, to guarantee dependable and therapeutically beneficial ML applications, issues like data limits, model understanding.</a:t>
            </a:r>
            <a:endParaRPr lang="en-GB" sz="2300" dirty="0">
              <a:solidFill>
                <a:schemeClr val="tx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6A5DCF8-2D01-637C-5162-6E3555A478F5}"/>
              </a:ext>
            </a:extLst>
          </p:cNvPr>
          <p:cNvSpPr txBox="1"/>
          <p:nvPr/>
        </p:nvSpPr>
        <p:spPr>
          <a:xfrm>
            <a:off x="3787553" y="577929"/>
            <a:ext cx="5260913" cy="784830"/>
          </a:xfrm>
          <a:prstGeom prst="rect">
            <a:avLst/>
          </a:prstGeom>
          <a:noFill/>
        </p:spPr>
        <p:txBody>
          <a:bodyPr wrap="square" rtlCol="0">
            <a:spAutoFit/>
          </a:bodyPr>
          <a:lstStyle/>
          <a:p>
            <a:r>
              <a:rPr lang="en-US" sz="4500" b="1" dirty="0">
                <a:latin typeface="Times New Roman" panose="02020603050405020304" pitchFamily="18" charset="0"/>
                <a:cs typeface="Times New Roman" panose="02020603050405020304" pitchFamily="18" charset="0"/>
              </a:rPr>
              <a:t>Problem Statement</a:t>
            </a:r>
          </a:p>
        </p:txBody>
      </p:sp>
      <p:sp>
        <p:nvSpPr>
          <p:cNvPr id="4" name="Slide Number Placeholder 3"/>
          <p:cNvSpPr>
            <a:spLocks noGrp="1"/>
          </p:cNvSpPr>
          <p:nvPr>
            <p:ph type="sldNum" sz="quarter" idx="12"/>
          </p:nvPr>
        </p:nvSpPr>
        <p:spPr/>
        <p:txBody>
          <a:bodyPr/>
          <a:lstStyle/>
          <a:p>
            <a:fld id="{CB4D3031-0AEB-4687-8E23-04446010D3F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13F72-3774-CCA0-C0F2-B08C43117B28}"/>
            </a:ext>
          </a:extLst>
        </p:cNvPr>
        <p:cNvGrpSpPr/>
        <p:nvPr/>
      </p:nvGrpSpPr>
      <p:grpSpPr>
        <a:xfrm>
          <a:off x="0" y="0"/>
          <a:ext cx="0" cy="0"/>
          <a:chOff x="0" y="0"/>
          <a:chExt cx="0" cy="0"/>
        </a:xfrm>
      </p:grpSpPr>
      <p:sp>
        <p:nvSpPr>
          <p:cNvPr id="1048637" name="Title 1">
            <a:extLst>
              <a:ext uri="{FF2B5EF4-FFF2-40B4-BE49-F238E27FC236}">
                <a16:creationId xmlns:a16="http://schemas.microsoft.com/office/drawing/2014/main" id="{1462A20C-2714-C76B-2612-1ADEBB2F0F4B}"/>
              </a:ext>
            </a:extLst>
          </p:cNvPr>
          <p:cNvSpPr>
            <a:spLocks noGrp="1"/>
          </p:cNvSpPr>
          <p:nvPr>
            <p:ph type="title"/>
          </p:nvPr>
        </p:nvSpPr>
        <p:spPr>
          <a:xfrm>
            <a:off x="3012200" y="745829"/>
            <a:ext cx="6851176" cy="814155"/>
          </a:xfrm>
        </p:spPr>
        <p:txBody>
          <a:bodyPr>
            <a:normAutofit/>
          </a:bodyPr>
          <a:lstStyle/>
          <a:p>
            <a:pPr algn="ctr"/>
            <a:r>
              <a:rPr lang="en-US" b="1" dirty="0">
                <a:latin typeface="Times New Roman" panose="02020603050405020304" pitchFamily="18" charset="0"/>
                <a:cs typeface="Times New Roman" panose="02020603050405020304" pitchFamily="18" charset="0"/>
              </a:rPr>
              <a:t>Tools &amp; Technologies Used</a:t>
            </a:r>
          </a:p>
        </p:txBody>
      </p:sp>
      <p:sp>
        <p:nvSpPr>
          <p:cNvPr id="1048638" name="Content Placeholder 2">
            <a:extLst>
              <a:ext uri="{FF2B5EF4-FFF2-40B4-BE49-F238E27FC236}">
                <a16:creationId xmlns:a16="http://schemas.microsoft.com/office/drawing/2014/main" id="{E61E6A70-6343-492D-3F41-6C4E5CBFBD03}"/>
              </a:ext>
            </a:extLst>
          </p:cNvPr>
          <p:cNvSpPr>
            <a:spLocks noGrp="1"/>
          </p:cNvSpPr>
          <p:nvPr>
            <p:ph idx="1"/>
          </p:nvPr>
        </p:nvSpPr>
        <p:spPr>
          <a:xfrm>
            <a:off x="3012200" y="2206866"/>
            <a:ext cx="7018904" cy="2951987"/>
          </a:xfrm>
        </p:spPr>
        <p:txBody>
          <a:bodyPr>
            <a:noAutofit/>
          </a:bodyPr>
          <a:lstStyle/>
          <a:p>
            <a:pPr>
              <a:lnSpc>
                <a:spcPct val="150000"/>
              </a:lnSpc>
            </a:pPr>
            <a:r>
              <a:rPr lang="en-US" sz="2000" dirty="0"/>
              <a:t>Programming Language (Python 3.x)</a:t>
            </a:r>
          </a:p>
          <a:p>
            <a:pPr>
              <a:lnSpc>
                <a:spcPct val="150000"/>
              </a:lnSpc>
            </a:pPr>
            <a:r>
              <a:rPr lang="en-US" sz="2000" dirty="0"/>
              <a:t>Development Environment (Google Colab)</a:t>
            </a:r>
          </a:p>
          <a:p>
            <a:pPr>
              <a:lnSpc>
                <a:spcPct val="150000"/>
              </a:lnSpc>
            </a:pPr>
            <a:r>
              <a:rPr lang="en-US" sz="2000" dirty="0"/>
              <a:t>Data Handling &amp; Processing (Pandas, NumPy)</a:t>
            </a:r>
          </a:p>
          <a:p>
            <a:pPr>
              <a:lnSpc>
                <a:spcPct val="150000"/>
              </a:lnSpc>
            </a:pPr>
            <a:r>
              <a:rPr lang="en-US" sz="2000" dirty="0"/>
              <a:t>Data Visualization (Matplotlib, Seaborn)</a:t>
            </a:r>
          </a:p>
          <a:p>
            <a:pPr>
              <a:lnSpc>
                <a:spcPct val="150000"/>
              </a:lnSpc>
            </a:pPr>
            <a:r>
              <a:rPr lang="en-US" sz="2000" dirty="0"/>
              <a:t>Machine Learning Libraries (Scikit-Learn)</a:t>
            </a:r>
          </a:p>
        </p:txBody>
      </p:sp>
      <p:sp>
        <p:nvSpPr>
          <p:cNvPr id="3" name="Slide Number Placeholder 2">
            <a:extLst>
              <a:ext uri="{FF2B5EF4-FFF2-40B4-BE49-F238E27FC236}">
                <a16:creationId xmlns:a16="http://schemas.microsoft.com/office/drawing/2014/main" id="{77ABB8A0-CE61-0CAF-5D44-5BCBAE6F91AA}"/>
              </a:ext>
            </a:extLst>
          </p:cNvPr>
          <p:cNvSpPr>
            <a:spLocks noGrp="1"/>
          </p:cNvSpPr>
          <p:nvPr>
            <p:ph type="sldNum" sz="quarter" idx="12"/>
          </p:nvPr>
        </p:nvSpPr>
        <p:spPr/>
        <p:txBody>
          <a:bodyPr/>
          <a:lstStyle/>
          <a:p>
            <a:fld id="{CB4D3031-0AEB-4687-8E23-04446010D3FF}" type="slidenum">
              <a:rPr lang="en-US" smtClean="0"/>
              <a:t>6</a:t>
            </a:fld>
            <a:endParaRPr lang="en-US"/>
          </a:p>
        </p:txBody>
      </p:sp>
    </p:spTree>
    <p:extLst>
      <p:ext uri="{BB962C8B-B14F-4D97-AF65-F5344CB8AC3E}">
        <p14:creationId xmlns:p14="http://schemas.microsoft.com/office/powerpoint/2010/main" val="4236598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
          <p:cNvSpPr>
            <a:spLocks noGrp="1"/>
          </p:cNvSpPr>
          <p:nvPr>
            <p:ph type="title"/>
          </p:nvPr>
        </p:nvSpPr>
        <p:spPr>
          <a:xfrm>
            <a:off x="3653533" y="156903"/>
            <a:ext cx="5130591" cy="630879"/>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Research Work </a:t>
            </a:r>
          </a:p>
        </p:txBody>
      </p:sp>
      <p:sp>
        <p:nvSpPr>
          <p:cNvPr id="3" name="Slide Number Placeholder 2"/>
          <p:cNvSpPr>
            <a:spLocks noGrp="1"/>
          </p:cNvSpPr>
          <p:nvPr>
            <p:ph type="sldNum" sz="quarter" idx="12"/>
          </p:nvPr>
        </p:nvSpPr>
        <p:spPr/>
        <p:txBody>
          <a:bodyPr/>
          <a:lstStyle/>
          <a:p>
            <a:fld id="{CB4D3031-0AEB-4687-8E23-04446010D3FF}" type="slidenum">
              <a:rPr lang="en-US" smtClean="0"/>
              <a:t>7</a:t>
            </a:fld>
            <a:endParaRPr lang="en-US"/>
          </a:p>
        </p:txBody>
      </p:sp>
      <p:pic>
        <p:nvPicPr>
          <p:cNvPr id="5" name="Picture 4">
            <a:extLst>
              <a:ext uri="{FF2B5EF4-FFF2-40B4-BE49-F238E27FC236}">
                <a16:creationId xmlns:a16="http://schemas.microsoft.com/office/drawing/2014/main" id="{54E73C3C-EA49-03B3-9863-0BBA6F6BD31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87605" y="1003523"/>
            <a:ext cx="9948827" cy="5596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CF2C-0CA5-DB20-84B7-416975953372}"/>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8A5DF165-E2F1-88A2-68A6-CF0A724CB3CE}"/>
              </a:ext>
            </a:extLst>
          </p:cNvPr>
          <p:cNvSpPr>
            <a:spLocks noGrp="1"/>
          </p:cNvSpPr>
          <p:nvPr>
            <p:ph type="title"/>
          </p:nvPr>
        </p:nvSpPr>
        <p:spPr>
          <a:xfrm>
            <a:off x="4375902" y="621340"/>
            <a:ext cx="3935586" cy="704272"/>
          </a:xfrm>
        </p:spPr>
        <p:txBody>
          <a:bodyPr>
            <a:normAutofit/>
          </a:bodyPr>
          <a:lstStyle/>
          <a:p>
            <a:pPr algn="ctr"/>
            <a:r>
              <a:rPr lang="en-US" sz="4000" b="1" dirty="0">
                <a:latin typeface="Times New Roman" panose="02020603050405020304" pitchFamily="18" charset="0"/>
                <a:cs typeface="Times New Roman" panose="02020603050405020304" pitchFamily="18" charset="0"/>
              </a:rPr>
              <a:t>Data Collection</a:t>
            </a:r>
          </a:p>
        </p:txBody>
      </p:sp>
      <p:sp>
        <p:nvSpPr>
          <p:cNvPr id="3" name="Slide Number Placeholder 2">
            <a:extLst>
              <a:ext uri="{FF2B5EF4-FFF2-40B4-BE49-F238E27FC236}">
                <a16:creationId xmlns:a16="http://schemas.microsoft.com/office/drawing/2014/main" id="{1BDC5535-0531-2A65-3D78-75AE0B17623F}"/>
              </a:ext>
            </a:extLst>
          </p:cNvPr>
          <p:cNvSpPr>
            <a:spLocks noGrp="1"/>
          </p:cNvSpPr>
          <p:nvPr>
            <p:ph type="sldNum" sz="quarter" idx="12"/>
          </p:nvPr>
        </p:nvSpPr>
        <p:spPr/>
        <p:txBody>
          <a:bodyPr/>
          <a:lstStyle/>
          <a:p>
            <a:fld id="{CB4D3031-0AEB-4687-8E23-04446010D3FF}" type="slidenum">
              <a:rPr lang="en-US" smtClean="0"/>
              <a:t>8</a:t>
            </a:fld>
            <a:endParaRPr lang="en-US"/>
          </a:p>
        </p:txBody>
      </p:sp>
      <p:sp>
        <p:nvSpPr>
          <p:cNvPr id="4" name="TextBox 3">
            <a:extLst>
              <a:ext uri="{FF2B5EF4-FFF2-40B4-BE49-F238E27FC236}">
                <a16:creationId xmlns:a16="http://schemas.microsoft.com/office/drawing/2014/main" id="{2603CE8C-5A63-1CAE-4A15-A9389E917D8E}"/>
              </a:ext>
            </a:extLst>
          </p:cNvPr>
          <p:cNvSpPr txBox="1"/>
          <p:nvPr/>
        </p:nvSpPr>
        <p:spPr>
          <a:xfrm>
            <a:off x="1885480" y="1527678"/>
            <a:ext cx="8650592" cy="4238148"/>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Information on this popular ML dataset website Kaggle provides the Cardiovascular disease (CVD) dataset. It was previously used [19]. There are thirteen variables, which include relevant characteristics and symptoms associated with cardiovascular disease, that define each of the 70,000 instances in this dataset. The outcome status of the dataset indicates two target classes: non-cardiovascular (35,021 cases) and cardiovascular (34,979 instances) [41]. In light of its large body of health and demographic information, the CDP dataset is a useful resource when performing extensive medical studies and developing model forecasts for healthcare analytics.</a:t>
            </a:r>
          </a:p>
        </p:txBody>
      </p:sp>
    </p:spTree>
    <p:extLst>
      <p:ext uri="{BB962C8B-B14F-4D97-AF65-F5344CB8AC3E}">
        <p14:creationId xmlns:p14="http://schemas.microsoft.com/office/powerpoint/2010/main" val="2786214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476D1-5475-A8BB-F18F-62DA2A8A7830}"/>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87652421-BD57-2E1A-DCAB-593EBB0299F0}"/>
              </a:ext>
            </a:extLst>
          </p:cNvPr>
          <p:cNvSpPr>
            <a:spLocks noGrp="1"/>
          </p:cNvSpPr>
          <p:nvPr>
            <p:ph type="title"/>
          </p:nvPr>
        </p:nvSpPr>
        <p:spPr>
          <a:xfrm>
            <a:off x="3079365" y="226336"/>
            <a:ext cx="5614259" cy="704272"/>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Parameters of the Dataset</a:t>
            </a:r>
          </a:p>
        </p:txBody>
      </p:sp>
      <p:sp>
        <p:nvSpPr>
          <p:cNvPr id="3" name="Slide Number Placeholder 2">
            <a:extLst>
              <a:ext uri="{FF2B5EF4-FFF2-40B4-BE49-F238E27FC236}">
                <a16:creationId xmlns:a16="http://schemas.microsoft.com/office/drawing/2014/main" id="{195FE6E5-89AA-46C2-8C2C-EF8642E792C2}"/>
              </a:ext>
            </a:extLst>
          </p:cNvPr>
          <p:cNvSpPr>
            <a:spLocks noGrp="1"/>
          </p:cNvSpPr>
          <p:nvPr>
            <p:ph type="sldNum" sz="quarter" idx="12"/>
          </p:nvPr>
        </p:nvSpPr>
        <p:spPr/>
        <p:txBody>
          <a:bodyPr/>
          <a:lstStyle/>
          <a:p>
            <a:fld id="{CB4D3031-0AEB-4687-8E23-04446010D3FF}" type="slidenum">
              <a:rPr lang="en-US" smtClean="0"/>
              <a:t>9</a:t>
            </a:fld>
            <a:endParaRPr lang="en-US"/>
          </a:p>
        </p:txBody>
      </p:sp>
      <p:graphicFrame>
        <p:nvGraphicFramePr>
          <p:cNvPr id="2" name="Table 1">
            <a:extLst>
              <a:ext uri="{FF2B5EF4-FFF2-40B4-BE49-F238E27FC236}">
                <a16:creationId xmlns:a16="http://schemas.microsoft.com/office/drawing/2014/main" id="{A024237D-7C3D-CC33-7642-32611CD1B2EC}"/>
              </a:ext>
            </a:extLst>
          </p:cNvPr>
          <p:cNvGraphicFramePr>
            <a:graphicFrameLocks noGrp="1"/>
          </p:cNvGraphicFramePr>
          <p:nvPr>
            <p:extLst>
              <p:ext uri="{D42A27DB-BD31-4B8C-83A1-F6EECF244321}">
                <p14:modId xmlns:p14="http://schemas.microsoft.com/office/powerpoint/2010/main" val="878265144"/>
              </p:ext>
            </p:extLst>
          </p:nvPr>
        </p:nvGraphicFramePr>
        <p:xfrm>
          <a:off x="2797791" y="970344"/>
          <a:ext cx="6933062" cy="5315606"/>
        </p:xfrm>
        <a:graphic>
          <a:graphicData uri="http://schemas.openxmlformats.org/drawingml/2006/table">
            <a:tbl>
              <a:tblPr bandRow="1">
                <a:tableStyleId>{5C22544A-7EE6-4342-B048-85BDC9FD1C3A}</a:tableStyleId>
              </a:tblPr>
              <a:tblGrid>
                <a:gridCol w="2334116">
                  <a:extLst>
                    <a:ext uri="{9D8B030D-6E8A-4147-A177-3AD203B41FA5}">
                      <a16:colId xmlns:a16="http://schemas.microsoft.com/office/drawing/2014/main" val="2666018881"/>
                    </a:ext>
                  </a:extLst>
                </a:gridCol>
                <a:gridCol w="4598946">
                  <a:extLst>
                    <a:ext uri="{9D8B030D-6E8A-4147-A177-3AD203B41FA5}">
                      <a16:colId xmlns:a16="http://schemas.microsoft.com/office/drawing/2014/main" val="3823652839"/>
                    </a:ext>
                  </a:extLst>
                </a:gridCol>
              </a:tblGrid>
              <a:tr h="557226">
                <a:tc>
                  <a:txBody>
                    <a:bodyPr/>
                    <a:lstStyle/>
                    <a:p>
                      <a:pPr marL="0" marR="0" algn="ctr">
                        <a:lnSpc>
                          <a:spcPct val="150000"/>
                        </a:lnSpc>
                        <a:spcAft>
                          <a:spcPts val="800"/>
                        </a:spcAft>
                        <a:buNone/>
                      </a:pPr>
                      <a:r>
                        <a:rPr lang="en-US" sz="1400" b="1" kern="100">
                          <a:solidFill>
                            <a:schemeClr val="bg1"/>
                          </a:solidFill>
                          <a:effectLst/>
                          <a:latin typeface="Times New Roman" panose="02020603050405020304" pitchFamily="18" charset="0"/>
                          <a:cs typeface="Times New Roman" panose="02020603050405020304" pitchFamily="18" charset="0"/>
                        </a:rPr>
                        <a:t>Parameters of the Dataset</a:t>
                      </a:r>
                      <a:endParaRPr lang="en-US" sz="1400" b="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C00000"/>
                    </a:solidFill>
                  </a:tcPr>
                </a:tc>
                <a:tc>
                  <a:txBody>
                    <a:bodyPr/>
                    <a:lstStyle/>
                    <a:p>
                      <a:pPr marL="0" marR="0" algn="ctr">
                        <a:lnSpc>
                          <a:spcPct val="150000"/>
                        </a:lnSpc>
                        <a:spcAft>
                          <a:spcPts val="800"/>
                        </a:spcAft>
                        <a:buNone/>
                      </a:pPr>
                      <a:r>
                        <a:rPr lang="en-US" sz="1400" b="1" kern="100" dirty="0">
                          <a:solidFill>
                            <a:schemeClr val="bg1"/>
                          </a:solidFill>
                          <a:effectLst/>
                          <a:latin typeface="Times New Roman" panose="02020603050405020304" pitchFamily="18" charset="0"/>
                          <a:cs typeface="Times New Roman" panose="02020603050405020304" pitchFamily="18" charset="0"/>
                        </a:rPr>
                        <a:t>Characteristics of CDP</a:t>
                      </a:r>
                      <a:endParaRPr lang="en-US"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C00000"/>
                    </a:solidFill>
                  </a:tcPr>
                </a:tc>
                <a:extLst>
                  <a:ext uri="{0D108BD9-81ED-4DB2-BD59-A6C34878D82A}">
                    <a16:rowId xmlns:a16="http://schemas.microsoft.com/office/drawing/2014/main" val="859858884"/>
                  </a:ext>
                </a:extLst>
              </a:tr>
              <a:tr h="262658">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Age</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Patient age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0990579"/>
                  </a:ext>
                </a:extLst>
              </a:tr>
              <a:tr h="262658">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Height</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Patient height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879993"/>
                  </a:ext>
                </a:extLst>
              </a:tr>
              <a:tr h="262658">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Weight</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Patient weight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3715611"/>
                  </a:ext>
                </a:extLst>
              </a:tr>
              <a:tr h="262658">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Gender</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Patient Sex: female; male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9529155"/>
                  </a:ext>
                </a:extLst>
              </a:tr>
              <a:tr h="557226">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Systolic blood pressure</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Have you ever been fatigued, worn out, or exhausted?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2091722"/>
                  </a:ext>
                </a:extLst>
              </a:tr>
              <a:tr h="557226">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Diastolic blood pressure</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Have you frequently experienced ineffective coughing?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9314769"/>
                  </a:ext>
                </a:extLst>
              </a:tr>
              <a:tr h="262658">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Cholesterol</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Have you ever felt suffocated or out of breath?</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6931179"/>
                  </a:ext>
                </a:extLst>
              </a:tr>
              <a:tr h="557226">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Glucose</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Have you ever felt a sore, itchy, or painful throat?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7249188"/>
                  </a:ext>
                </a:extLst>
              </a:tr>
              <a:tr h="262658">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Smoking</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Have you had frequent bone or body pain?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87766564"/>
                  </a:ext>
                </a:extLst>
              </a:tr>
              <a:tr h="262658">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Alcohol Intake</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Have you ever felt your face or nose feel full?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2790486"/>
                  </a:ext>
                </a:extLst>
              </a:tr>
              <a:tr h="557226">
                <a:tc>
                  <a:txBody>
                    <a:bodyPr/>
                    <a:lstStyle/>
                    <a:p>
                      <a:pPr marL="0" marR="0" algn="l">
                        <a:lnSpc>
                          <a:spcPct val="150000"/>
                        </a:lnSpc>
                        <a:spcAft>
                          <a:spcPts val="800"/>
                        </a:spcAft>
                        <a:buNone/>
                      </a:pPr>
                      <a:r>
                        <a:rPr lang="en-US" sz="1400" b="1" kern="100">
                          <a:effectLst/>
                          <a:latin typeface="Times New Roman" panose="02020603050405020304" pitchFamily="18" charset="0"/>
                          <a:cs typeface="Times New Roman" panose="02020603050405020304" pitchFamily="18" charset="0"/>
                        </a:rPr>
                        <a:t>Physical Activity</a:t>
                      </a:r>
                      <a:endParaRPr lang="en-US"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a:effectLst/>
                          <a:latin typeface="Times New Roman" panose="02020603050405020304" pitchFamily="18" charset="0"/>
                          <a:cs typeface="Times New Roman" panose="02020603050405020304" pitchFamily="18" charset="0"/>
                        </a:rPr>
                        <a:t>Have you ever had fluids flow down your mouth or drip?</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4554526"/>
                  </a:ext>
                </a:extLst>
              </a:tr>
              <a:tr h="557226">
                <a:tc>
                  <a:txBody>
                    <a:bodyPr/>
                    <a:lstStyle/>
                    <a:p>
                      <a:pPr marL="0" marR="0" algn="l">
                        <a:lnSpc>
                          <a:spcPct val="150000"/>
                        </a:lnSpc>
                        <a:spcAft>
                          <a:spcPts val="800"/>
                        </a:spcAft>
                        <a:buNone/>
                      </a:pPr>
                      <a:r>
                        <a:rPr lang="en-US" sz="1400" b="1" kern="100" dirty="0">
                          <a:effectLst/>
                          <a:latin typeface="Times New Roman" panose="02020603050405020304" pitchFamily="18" charset="0"/>
                          <a:cs typeface="Times New Roman" panose="02020603050405020304" pitchFamily="18" charset="0"/>
                        </a:rPr>
                        <a:t>Cardiovascular Disease</a:t>
                      </a:r>
                      <a:endParaRPr lang="en-US"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800"/>
                        </a:spcAft>
                        <a:buNone/>
                      </a:pPr>
                      <a:r>
                        <a:rPr lang="en-US" sz="1400" kern="100" dirty="0">
                          <a:effectLst/>
                          <a:latin typeface="Times New Roman" panose="02020603050405020304" pitchFamily="18" charset="0"/>
                          <a:cs typeface="Times New Roman" panose="02020603050405020304" pitchFamily="18" charset="0"/>
                        </a:rPr>
                        <a:t>Patient Severity; None, Mild or Moderate.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636242"/>
                  </a:ext>
                </a:extLst>
              </a:tr>
            </a:tbl>
          </a:graphicData>
        </a:graphic>
      </p:graphicFrame>
      <p:sp>
        <p:nvSpPr>
          <p:cNvPr id="5" name="Rectangle 1">
            <a:extLst>
              <a:ext uri="{FF2B5EF4-FFF2-40B4-BE49-F238E27FC236}">
                <a16:creationId xmlns:a16="http://schemas.microsoft.com/office/drawing/2014/main" id="{5BBE8B7C-5DE7-9FB9-E6C3-6DFF45004224}"/>
              </a:ext>
            </a:extLst>
          </p:cNvPr>
          <p:cNvSpPr>
            <a:spLocks noChangeArrowheads="1"/>
          </p:cNvSpPr>
          <p:nvPr/>
        </p:nvSpPr>
        <p:spPr bwMode="auto">
          <a:xfrm>
            <a:off x="3079365" y="6462387"/>
            <a:ext cx="62025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kumimoji="0" lang="en-US" altLang="en-US" sz="1600" b="1" i="0" u="none" strike="noStrike" cap="none" normalizeH="0" baseline="0" dirty="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able </a:t>
            </a:r>
            <a:r>
              <a:rPr kumimoji="0" lang="en-US" altLang="en-US" sz="1600" b="1" i="0" u="none" strike="noStrike" cap="none" normalizeH="0" baseline="0" dirty="0" bmk="_Toc205407839">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r>
              <a:rPr kumimoji="0" lang="en-US" altLang="en-US" sz="1600" b="0" i="0" u="none" strike="noStrike" cap="none" normalizeH="0" baseline="0" dirty="0" bmk="_Toc205407839">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Shows the Original Cardiovascular Disease Prediction Dataset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906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56D59-7C55-54E0-1D2D-2C10251ACDFD}"/>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556A38DA-DA6F-4C2F-2176-006E6FF3FC6C}"/>
              </a:ext>
            </a:extLst>
          </p:cNvPr>
          <p:cNvSpPr>
            <a:spLocks noGrp="1"/>
          </p:cNvSpPr>
          <p:nvPr>
            <p:ph type="title"/>
          </p:nvPr>
        </p:nvSpPr>
        <p:spPr>
          <a:xfrm>
            <a:off x="4099288" y="301221"/>
            <a:ext cx="3935586" cy="704272"/>
          </a:xfrm>
        </p:spPr>
        <p:txBody>
          <a:bodyPr>
            <a:normAutofit/>
          </a:bodyPr>
          <a:lstStyle/>
          <a:p>
            <a:pPr algn="ctr"/>
            <a:r>
              <a:rPr lang="en-US" sz="4000" b="1" dirty="0">
                <a:latin typeface="Times New Roman" panose="02020603050405020304" pitchFamily="18" charset="0"/>
                <a:cs typeface="Times New Roman" panose="02020603050405020304" pitchFamily="18" charset="0"/>
              </a:rPr>
              <a:t>Data Collection</a:t>
            </a:r>
          </a:p>
        </p:txBody>
      </p:sp>
      <p:sp>
        <p:nvSpPr>
          <p:cNvPr id="3" name="Slide Number Placeholder 2">
            <a:extLst>
              <a:ext uri="{FF2B5EF4-FFF2-40B4-BE49-F238E27FC236}">
                <a16:creationId xmlns:a16="http://schemas.microsoft.com/office/drawing/2014/main" id="{BDD32B5C-9DFD-404E-A58F-0BCA890DA720}"/>
              </a:ext>
            </a:extLst>
          </p:cNvPr>
          <p:cNvSpPr>
            <a:spLocks noGrp="1"/>
          </p:cNvSpPr>
          <p:nvPr>
            <p:ph type="sldNum" sz="quarter" idx="12"/>
          </p:nvPr>
        </p:nvSpPr>
        <p:spPr/>
        <p:txBody>
          <a:bodyPr/>
          <a:lstStyle/>
          <a:p>
            <a:fld id="{CB4D3031-0AEB-4687-8E23-04446010D3FF}" type="slidenum">
              <a:rPr lang="en-US" smtClean="0"/>
              <a:t>10</a:t>
            </a:fld>
            <a:endParaRPr lang="en-US"/>
          </a:p>
        </p:txBody>
      </p:sp>
      <p:pic>
        <p:nvPicPr>
          <p:cNvPr id="5" name="Picture 4">
            <a:extLst>
              <a:ext uri="{FF2B5EF4-FFF2-40B4-BE49-F238E27FC236}">
                <a16:creationId xmlns:a16="http://schemas.microsoft.com/office/drawing/2014/main" id="{CE488A8F-4170-2348-373E-7BA4DD3658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1102" y="2709005"/>
            <a:ext cx="3800292" cy="3221480"/>
          </a:xfrm>
          <a:prstGeom prst="rect">
            <a:avLst/>
          </a:prstGeom>
        </p:spPr>
      </p:pic>
      <p:pic>
        <p:nvPicPr>
          <p:cNvPr id="6" name="Picture 5">
            <a:extLst>
              <a:ext uri="{FF2B5EF4-FFF2-40B4-BE49-F238E27FC236}">
                <a16:creationId xmlns:a16="http://schemas.microsoft.com/office/drawing/2014/main" id="{F8BD2B3F-497F-7F67-2B7A-1105172E13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17587" y="2618102"/>
            <a:ext cx="4144366" cy="3234405"/>
          </a:xfrm>
          <a:prstGeom prst="rect">
            <a:avLst/>
          </a:prstGeom>
        </p:spPr>
      </p:pic>
      <p:sp>
        <p:nvSpPr>
          <p:cNvPr id="8" name="TextBox 7">
            <a:extLst>
              <a:ext uri="{FF2B5EF4-FFF2-40B4-BE49-F238E27FC236}">
                <a16:creationId xmlns:a16="http://schemas.microsoft.com/office/drawing/2014/main" id="{BFD5F54F-C4A9-7570-1484-497B32A8697E}"/>
              </a:ext>
            </a:extLst>
          </p:cNvPr>
          <p:cNvSpPr txBox="1"/>
          <p:nvPr/>
        </p:nvSpPr>
        <p:spPr>
          <a:xfrm>
            <a:off x="1901102" y="6022244"/>
            <a:ext cx="4165979" cy="646331"/>
          </a:xfrm>
          <a:prstGeom prst="rect">
            <a:avLst/>
          </a:prstGeom>
          <a:noFill/>
        </p:spPr>
        <p:txBody>
          <a:bodyPr wrap="square">
            <a:spAutoFit/>
          </a:bodyPr>
          <a:lstStyle/>
          <a:p>
            <a:r>
              <a:rPr lang="en-US" sz="1800" kern="100" dirty="0">
                <a:effectLst/>
                <a:latin typeface="Times New Roman" panose="02020603050405020304" pitchFamily="18" charset="0"/>
                <a:ea typeface="Calibri" panose="020F0502020204030204" pitchFamily="34" charset="0"/>
              </a:rPr>
              <a:t>Quantity of Facts Male and Female Cardiovascular Disease Patients</a:t>
            </a:r>
            <a:endParaRPr lang="en-US" dirty="0"/>
          </a:p>
        </p:txBody>
      </p:sp>
      <p:sp>
        <p:nvSpPr>
          <p:cNvPr id="10" name="TextBox 9">
            <a:extLst>
              <a:ext uri="{FF2B5EF4-FFF2-40B4-BE49-F238E27FC236}">
                <a16:creationId xmlns:a16="http://schemas.microsoft.com/office/drawing/2014/main" id="{BC874E14-8A19-F924-FE2E-0B3AC212D5CE}"/>
              </a:ext>
            </a:extLst>
          </p:cNvPr>
          <p:cNvSpPr txBox="1"/>
          <p:nvPr/>
        </p:nvSpPr>
        <p:spPr>
          <a:xfrm>
            <a:off x="6817587" y="6033867"/>
            <a:ext cx="3917098" cy="646331"/>
          </a:xfrm>
          <a:prstGeom prst="rect">
            <a:avLst/>
          </a:prstGeom>
          <a:noFill/>
        </p:spPr>
        <p:txBody>
          <a:bodyPr wrap="square">
            <a:spAutoFit/>
          </a:bodyPr>
          <a:lstStyle/>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Quantity of Cardiovascular Disease Patients</a:t>
            </a: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B2D3EA5-8B74-AA4C-5B90-116F0D57773A}"/>
              </a:ext>
            </a:extLst>
          </p:cNvPr>
          <p:cNvSpPr txBox="1"/>
          <p:nvPr/>
        </p:nvSpPr>
        <p:spPr>
          <a:xfrm>
            <a:off x="1724409" y="1139918"/>
            <a:ext cx="9480403" cy="1477328"/>
          </a:xfrm>
          <a:prstGeom prst="rect">
            <a:avLst/>
          </a:prstGeom>
          <a:noFill/>
        </p:spPr>
        <p:txBody>
          <a:bodyPr wrap="square">
            <a:spAutoFit/>
          </a:bodyPr>
          <a:lstStyle/>
          <a:p>
            <a:pPr algn="just"/>
            <a:r>
              <a:rPr lang="en-US" sz="1800" kern="100" dirty="0">
                <a:effectLst/>
                <a:latin typeface="Times New Roman" panose="02020603050405020304" pitchFamily="18" charset="0"/>
                <a:ea typeface="Calibri" panose="020F0502020204030204" pitchFamily="34" charset="0"/>
              </a:rPr>
              <a:t>A comparison of men's and women's prevalence of CVD is depicted in 1</a:t>
            </a:r>
            <a:r>
              <a:rPr lang="en-US" sz="1800" kern="100" baseline="30000" dirty="0">
                <a:effectLst/>
                <a:latin typeface="Times New Roman" panose="02020603050405020304" pitchFamily="18" charset="0"/>
                <a:ea typeface="Calibri" panose="020F0502020204030204" pitchFamily="34" charset="0"/>
              </a:rPr>
              <a:t>st</a:t>
            </a:r>
            <a:r>
              <a:rPr lang="en-US" sz="1800" kern="100" dirty="0">
                <a:effectLst/>
                <a:latin typeface="Times New Roman" panose="02020603050405020304" pitchFamily="18" charset="0"/>
                <a:ea typeface="Calibri" panose="020F0502020204030204" pitchFamily="34" charset="0"/>
              </a:rPr>
              <a:t> Figure. The x-axis indicates gender, with 1 representing females and 2 representing males. In 2</a:t>
            </a:r>
            <a:r>
              <a:rPr lang="en-US" sz="1800" kern="100" baseline="30000" dirty="0">
                <a:effectLst/>
                <a:latin typeface="Times New Roman" panose="02020603050405020304" pitchFamily="18" charset="0"/>
                <a:ea typeface="Calibri" panose="020F0502020204030204" pitchFamily="34" charset="0"/>
              </a:rPr>
              <a:t>nd</a:t>
            </a:r>
            <a:r>
              <a:rPr lang="en-US" sz="1800" kern="100" dirty="0">
                <a:effectLst/>
                <a:latin typeface="Times New Roman" panose="02020603050405020304" pitchFamily="18" charset="0"/>
                <a:ea typeface="Calibri" panose="020F0502020204030204" pitchFamily="34" charset="0"/>
              </a:rPr>
              <a:t> Figure indicates how patients with cardiovascular condition are distributed across a number of classes. These are represented on the x-axis, ranging from 0 for non-cardiovascular cases to 1 for cardiovascular instance. </a:t>
            </a:r>
            <a:endParaRPr lang="en-US" dirty="0"/>
          </a:p>
        </p:txBody>
      </p:sp>
    </p:spTree>
    <p:extLst>
      <p:ext uri="{BB962C8B-B14F-4D97-AF65-F5344CB8AC3E}">
        <p14:creationId xmlns:p14="http://schemas.microsoft.com/office/powerpoint/2010/main" val="2686407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3754221" y="760869"/>
            <a:ext cx="4683557" cy="784075"/>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Results and Discussion</a:t>
            </a:r>
          </a:p>
        </p:txBody>
      </p:sp>
      <p:sp>
        <p:nvSpPr>
          <p:cNvPr id="1048629" name="Content Placeholder 2"/>
          <p:cNvSpPr>
            <a:spLocks noGrp="1"/>
          </p:cNvSpPr>
          <p:nvPr>
            <p:ph idx="1"/>
          </p:nvPr>
        </p:nvSpPr>
        <p:spPr>
          <a:xfrm>
            <a:off x="2195673" y="1905000"/>
            <a:ext cx="8777127" cy="2789830"/>
          </a:xfrm>
        </p:spPr>
        <p:txBody>
          <a:bodyPr>
            <a:normAutofit fontScale="91667" lnSpcReduction="10000"/>
          </a:bodyPr>
          <a:lstStyle/>
          <a:p>
            <a:pPr marL="0" lvl="0" indent="0" algn="just">
              <a:lnSpc>
                <a:spcPct val="170000"/>
              </a:lnSpc>
              <a:buNone/>
            </a:pPr>
            <a:r>
              <a:rPr lang="en-US" sz="2000" dirty="0">
                <a:solidFill>
                  <a:schemeClr val="tx1"/>
                </a:solidFill>
                <a:latin typeface="Times New Roman" panose="02020603050405020304" pitchFamily="18" charset="0"/>
                <a:cs typeface="Times New Roman" panose="02020603050405020304" pitchFamily="18" charset="0"/>
              </a:rPr>
              <a:t>The research evaluated how the models generated by the use of ML methods performed in binary classification. To contrast performances, the following metrics were calculated: recall, precision, accuracy, F1-score, Confusion matrix, Accuracy, and ROC-AUC. The identification of the best results is the aim of the performance measures for the methods for ML being used</a:t>
            </a:r>
            <a:r>
              <a:rPr lang="en-GB" sz="2000" dirty="0">
                <a:solidFill>
                  <a:schemeClr val="tx1"/>
                </a:solidFill>
                <a:latin typeface="Times New Roman" panose="02020603050405020304" pitchFamily="18" charset="0"/>
                <a:cs typeface="Times New Roman" panose="02020603050405020304" pitchFamily="18" charset="0"/>
              </a:rPr>
              <a:t>.</a:t>
            </a:r>
            <a:r>
              <a:rPr lang="en-US" sz="2000" dirty="0">
                <a:solidFill>
                  <a:schemeClr val="tx1"/>
                </a:solidFill>
                <a:latin typeface="Times New Roman" panose="02020603050405020304" pitchFamily="18" charset="0"/>
                <a:cs typeface="Times New Roman" panose="02020603050405020304" pitchFamily="18" charset="0"/>
              </a:rPr>
              <a:t>   </a:t>
            </a:r>
          </a:p>
          <a:p>
            <a:pPr marL="0" lvl="0" indent="0">
              <a:buNone/>
            </a:pPr>
            <a:r>
              <a:rPr lang="en-US" dirty="0"/>
              <a:t>     </a:t>
            </a:r>
            <a:endParaRPr lang="en-GB" dirty="0"/>
          </a:p>
        </p:txBody>
      </p:sp>
      <p:sp>
        <p:nvSpPr>
          <p:cNvPr id="3" name="Slide Number Placeholder 2"/>
          <p:cNvSpPr>
            <a:spLocks noGrp="1"/>
          </p:cNvSpPr>
          <p:nvPr>
            <p:ph type="sldNum" sz="quarter" idx="12"/>
          </p:nvPr>
        </p:nvSpPr>
        <p:spPr/>
        <p:txBody>
          <a:bodyPr/>
          <a:lstStyle/>
          <a:p>
            <a:fld id="{CB4D3031-0AEB-4687-8E23-04446010D3FF}" type="slidenum">
              <a:rPr lang="en-US" smtClean="0"/>
              <a:t>11</a:t>
            </a:fld>
            <a:endParaRPr lang="en-US"/>
          </a:p>
        </p:txBody>
      </p:sp>
    </p:spTree>
    <p:extLst>
      <p:ext uri="{BB962C8B-B14F-4D97-AF65-F5344CB8AC3E}">
        <p14:creationId xmlns:p14="http://schemas.microsoft.com/office/powerpoint/2010/main" val="4283816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ACFC8-CB95-6517-AD54-239D504C4CD9}"/>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7304B5BD-E4F8-1B24-5B6C-579B65EA05AD}"/>
              </a:ext>
            </a:extLst>
          </p:cNvPr>
          <p:cNvSpPr>
            <a:spLocks noGrp="1"/>
          </p:cNvSpPr>
          <p:nvPr>
            <p:ph type="title"/>
          </p:nvPr>
        </p:nvSpPr>
        <p:spPr>
          <a:xfrm>
            <a:off x="3754221" y="760869"/>
            <a:ext cx="4683557" cy="784075"/>
          </a:xfrm>
        </p:spPr>
        <p:txBody>
          <a:bodyPr>
            <a:normAutofit/>
          </a:bodyPr>
          <a:lstStyle/>
          <a:p>
            <a:pPr algn="ctr"/>
            <a:r>
              <a:rPr lang="en-US" sz="4000" b="1" dirty="0">
                <a:latin typeface="Times New Roman" panose="02020603050405020304" pitchFamily="18" charset="0"/>
                <a:cs typeface="Times New Roman" panose="02020603050405020304" pitchFamily="18" charset="0"/>
              </a:rPr>
              <a:t>Model Parameters: </a:t>
            </a:r>
          </a:p>
        </p:txBody>
      </p:sp>
      <p:sp>
        <p:nvSpPr>
          <p:cNvPr id="1048629" name="Content Placeholder 2">
            <a:extLst>
              <a:ext uri="{FF2B5EF4-FFF2-40B4-BE49-F238E27FC236}">
                <a16:creationId xmlns:a16="http://schemas.microsoft.com/office/drawing/2014/main" id="{44BBC4B0-88A4-47AD-E1A5-DCA99FD4D2C6}"/>
              </a:ext>
            </a:extLst>
          </p:cNvPr>
          <p:cNvSpPr>
            <a:spLocks noGrp="1"/>
          </p:cNvSpPr>
          <p:nvPr>
            <p:ph idx="1"/>
          </p:nvPr>
        </p:nvSpPr>
        <p:spPr>
          <a:xfrm>
            <a:off x="2141537" y="1915229"/>
            <a:ext cx="7908926" cy="4181902"/>
          </a:xfrm>
        </p:spPr>
        <p:txBody>
          <a:bodyPr>
            <a:normAutofit fontScale="84167" lnSpcReduction="20000"/>
          </a:bodyPr>
          <a:lstStyle/>
          <a:p>
            <a:pPr marL="0" lvl="0" indent="0" algn="just">
              <a:lnSpc>
                <a:spcPct val="170000"/>
              </a:lnSpc>
              <a:buNone/>
            </a:pPr>
            <a:r>
              <a:rPr lang="en-US" sz="2400" dirty="0">
                <a:latin typeface="Times New Roman" panose="02020603050405020304" pitchFamily="18" charset="0"/>
                <a:cs typeface="Times New Roman" panose="02020603050405020304" pitchFamily="18" charset="0"/>
              </a:rPr>
              <a:t>A 75% training set and 25% test set were pulled from the CVD dataset for the research. The seed parameter was fixed at "1234" to ensure that the test and training sets to be used by the preceding models were the same. Additionally, the cross-validation procedure in the study comprised splitting the training and test sets ten times into 75% and 25%, each time having different data, and taking the average of the results. Usually, the default values were used in the developed algorithms. However, except for the default parameter values, the other parameters' values were inputted</a:t>
            </a:r>
            <a:r>
              <a:rPr lang="en-GB"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p>
          <a:p>
            <a:pPr marL="0" lvl="0" indent="0">
              <a:buNone/>
            </a:pPr>
            <a:r>
              <a:rPr lang="en-US" dirty="0"/>
              <a:t>     </a:t>
            </a:r>
            <a:endParaRPr lang="en-GB" dirty="0"/>
          </a:p>
        </p:txBody>
      </p:sp>
      <p:sp>
        <p:nvSpPr>
          <p:cNvPr id="3" name="Slide Number Placeholder 2">
            <a:extLst>
              <a:ext uri="{FF2B5EF4-FFF2-40B4-BE49-F238E27FC236}">
                <a16:creationId xmlns:a16="http://schemas.microsoft.com/office/drawing/2014/main" id="{9313657C-1431-8F62-2E5B-55F39EE56100}"/>
              </a:ext>
            </a:extLst>
          </p:cNvPr>
          <p:cNvSpPr>
            <a:spLocks noGrp="1"/>
          </p:cNvSpPr>
          <p:nvPr>
            <p:ph type="sldNum" sz="quarter" idx="12"/>
          </p:nvPr>
        </p:nvSpPr>
        <p:spPr/>
        <p:txBody>
          <a:bodyPr/>
          <a:lstStyle/>
          <a:p>
            <a:fld id="{CB4D3031-0AEB-4687-8E23-04446010D3FF}" type="slidenum">
              <a:rPr lang="en-US" smtClean="0"/>
              <a:t>12</a:t>
            </a:fld>
            <a:endParaRPr lang="en-US"/>
          </a:p>
        </p:txBody>
      </p:sp>
    </p:spTree>
    <p:extLst>
      <p:ext uri="{BB962C8B-B14F-4D97-AF65-F5344CB8AC3E}">
        <p14:creationId xmlns:p14="http://schemas.microsoft.com/office/powerpoint/2010/main" val="2906615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B5929-75FF-A742-F6B1-53BE7EB8855E}"/>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7BB65413-44B5-CA22-E916-1AD221788A5A}"/>
              </a:ext>
            </a:extLst>
          </p:cNvPr>
          <p:cNvSpPr>
            <a:spLocks noGrp="1"/>
          </p:cNvSpPr>
          <p:nvPr>
            <p:ph type="title"/>
          </p:nvPr>
        </p:nvSpPr>
        <p:spPr>
          <a:xfrm>
            <a:off x="3754221" y="760869"/>
            <a:ext cx="5649086" cy="784075"/>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FEATURE SELECTION</a:t>
            </a:r>
          </a:p>
        </p:txBody>
      </p:sp>
      <p:sp>
        <p:nvSpPr>
          <p:cNvPr id="1048629" name="Content Placeholder 2">
            <a:extLst>
              <a:ext uri="{FF2B5EF4-FFF2-40B4-BE49-F238E27FC236}">
                <a16:creationId xmlns:a16="http://schemas.microsoft.com/office/drawing/2014/main" id="{989E0123-5A7B-DD25-47B5-CEACBD5CFB92}"/>
              </a:ext>
            </a:extLst>
          </p:cNvPr>
          <p:cNvSpPr>
            <a:spLocks noGrp="1"/>
          </p:cNvSpPr>
          <p:nvPr>
            <p:ph idx="1"/>
          </p:nvPr>
        </p:nvSpPr>
        <p:spPr>
          <a:xfrm>
            <a:off x="2086490" y="1945943"/>
            <a:ext cx="7780841" cy="4151187"/>
          </a:xfrm>
        </p:spPr>
        <p:txBody>
          <a:bodyPr>
            <a:normAutofit fontScale="84167" lnSpcReduction="20000"/>
          </a:bodyPr>
          <a:lstStyle/>
          <a:p>
            <a:pPr marL="0" lvl="0" indent="0" algn="just">
              <a:lnSpc>
                <a:spcPct val="160000"/>
              </a:lnSpc>
              <a:buNone/>
            </a:pPr>
            <a:r>
              <a:rPr lang="en-US" sz="2200" dirty="0">
                <a:latin typeface="Times New Roman" panose="02020603050405020304" pitchFamily="18" charset="0"/>
                <a:cs typeface="Times New Roman" panose="02020603050405020304" pitchFamily="18" charset="0"/>
              </a:rPr>
              <a:t>Feature significance rates a model's input attributes according to their relevance. While lower-scoring features can be eliminated to reduce dimensionality and improve model performance and efficiency, higher-scoring elements have a major influence on predictions. Utilizing techniques such as </a:t>
            </a:r>
            <a:r>
              <a:rPr lang="en-US" sz="2200" dirty="0" err="1">
                <a:latin typeface="Times New Roman" panose="02020603050405020304" pitchFamily="18" charset="0"/>
                <a:cs typeface="Times New Roman" panose="02020603050405020304" pitchFamily="18" charset="0"/>
              </a:rPr>
              <a:t>XGBoost</a:t>
            </a:r>
            <a:r>
              <a:rPr lang="en-US" sz="2200" dirty="0">
                <a:latin typeface="Times New Roman" panose="02020603050405020304" pitchFamily="18" charset="0"/>
                <a:cs typeface="Times New Roman" panose="02020603050405020304" pitchFamily="18" charset="0"/>
              </a:rPr>
              <a:t>, SVM, and RF are used to iteratively remove less significant features according to their significance. In contrast to conventional techniques, this method improves efficiency and forecast accuracy by precisely selecting features through the use of strategic considerations and mathematical calculations</a:t>
            </a:r>
            <a:r>
              <a:rPr lang="en-GB"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a:t>
            </a:r>
          </a:p>
          <a:p>
            <a:pPr marL="0" lvl="0" indent="0">
              <a:lnSpc>
                <a:spcPct val="160000"/>
              </a:lnSpc>
              <a:buNone/>
            </a:pPr>
            <a:r>
              <a:rPr lang="en-US" dirty="0"/>
              <a:t>     </a:t>
            </a:r>
            <a:endParaRPr lang="en-GB" dirty="0"/>
          </a:p>
        </p:txBody>
      </p:sp>
      <p:sp>
        <p:nvSpPr>
          <p:cNvPr id="3" name="Slide Number Placeholder 2">
            <a:extLst>
              <a:ext uri="{FF2B5EF4-FFF2-40B4-BE49-F238E27FC236}">
                <a16:creationId xmlns:a16="http://schemas.microsoft.com/office/drawing/2014/main" id="{459DD6DA-6131-5077-B4F0-4BF3DB7BEFAB}"/>
              </a:ext>
            </a:extLst>
          </p:cNvPr>
          <p:cNvSpPr>
            <a:spLocks noGrp="1"/>
          </p:cNvSpPr>
          <p:nvPr>
            <p:ph type="sldNum" sz="quarter" idx="12"/>
          </p:nvPr>
        </p:nvSpPr>
        <p:spPr/>
        <p:txBody>
          <a:bodyPr/>
          <a:lstStyle/>
          <a:p>
            <a:fld id="{CB4D3031-0AEB-4687-8E23-04446010D3FF}" type="slidenum">
              <a:rPr lang="en-US" smtClean="0"/>
              <a:t>13</a:t>
            </a:fld>
            <a:endParaRPr lang="en-US"/>
          </a:p>
        </p:txBody>
      </p:sp>
    </p:spTree>
    <p:extLst>
      <p:ext uri="{BB962C8B-B14F-4D97-AF65-F5344CB8AC3E}">
        <p14:creationId xmlns:p14="http://schemas.microsoft.com/office/powerpoint/2010/main" val="4135586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13634-14DC-F1F0-8BD8-9C744FD8C84D}"/>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A7B6170D-F39E-E606-B890-A852998938D1}"/>
              </a:ext>
            </a:extLst>
          </p:cNvPr>
          <p:cNvSpPr>
            <a:spLocks noGrp="1"/>
          </p:cNvSpPr>
          <p:nvPr>
            <p:ph type="title"/>
          </p:nvPr>
        </p:nvSpPr>
        <p:spPr>
          <a:xfrm>
            <a:off x="3754221" y="760869"/>
            <a:ext cx="5649086" cy="784075"/>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FEATURE SELECTION</a:t>
            </a:r>
          </a:p>
        </p:txBody>
      </p:sp>
      <p:sp>
        <p:nvSpPr>
          <p:cNvPr id="3" name="Slide Number Placeholder 2">
            <a:extLst>
              <a:ext uri="{FF2B5EF4-FFF2-40B4-BE49-F238E27FC236}">
                <a16:creationId xmlns:a16="http://schemas.microsoft.com/office/drawing/2014/main" id="{998D020B-FBE8-F6D0-4298-3ED9FF964841}"/>
              </a:ext>
            </a:extLst>
          </p:cNvPr>
          <p:cNvSpPr>
            <a:spLocks noGrp="1"/>
          </p:cNvSpPr>
          <p:nvPr>
            <p:ph type="sldNum" sz="quarter" idx="12"/>
          </p:nvPr>
        </p:nvSpPr>
        <p:spPr/>
        <p:txBody>
          <a:bodyPr/>
          <a:lstStyle/>
          <a:p>
            <a:fld id="{CB4D3031-0AEB-4687-8E23-04446010D3FF}" type="slidenum">
              <a:rPr lang="en-US" smtClean="0"/>
              <a:t>14</a:t>
            </a:fld>
            <a:endParaRPr lang="en-US"/>
          </a:p>
        </p:txBody>
      </p:sp>
      <p:pic>
        <p:nvPicPr>
          <p:cNvPr id="2" name="Picture 1">
            <a:extLst>
              <a:ext uri="{FF2B5EF4-FFF2-40B4-BE49-F238E27FC236}">
                <a16:creationId xmlns:a16="http://schemas.microsoft.com/office/drawing/2014/main" id="{7A9A6262-0795-1C71-9F8D-8A4CB24163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3935" y="2096769"/>
            <a:ext cx="4738942" cy="3075731"/>
          </a:xfrm>
          <a:prstGeom prst="rect">
            <a:avLst/>
          </a:prstGeom>
        </p:spPr>
      </p:pic>
      <p:pic>
        <p:nvPicPr>
          <p:cNvPr id="4" name="Picture 3">
            <a:extLst>
              <a:ext uri="{FF2B5EF4-FFF2-40B4-BE49-F238E27FC236}">
                <a16:creationId xmlns:a16="http://schemas.microsoft.com/office/drawing/2014/main" id="{66151276-C9A7-E694-2719-6B8B9AD2BB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55641" y="2096769"/>
            <a:ext cx="4904096" cy="2939402"/>
          </a:xfrm>
          <a:prstGeom prst="rect">
            <a:avLst/>
          </a:prstGeom>
        </p:spPr>
      </p:pic>
      <p:sp>
        <p:nvSpPr>
          <p:cNvPr id="8" name="TextBox 7">
            <a:extLst>
              <a:ext uri="{FF2B5EF4-FFF2-40B4-BE49-F238E27FC236}">
                <a16:creationId xmlns:a16="http://schemas.microsoft.com/office/drawing/2014/main" id="{44FF70CF-6941-5CB2-E05C-C9337072BCC5}"/>
              </a:ext>
            </a:extLst>
          </p:cNvPr>
          <p:cNvSpPr txBox="1"/>
          <p:nvPr/>
        </p:nvSpPr>
        <p:spPr>
          <a:xfrm>
            <a:off x="4706160" y="5727799"/>
            <a:ext cx="2993434"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Feature Importance Dataset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4894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49657-27F2-55D3-502C-B01A4EFFF726}"/>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698D5FA4-C644-8B5C-D0CA-54A053BAFEB9}"/>
              </a:ext>
            </a:extLst>
          </p:cNvPr>
          <p:cNvSpPr>
            <a:spLocks noGrp="1"/>
          </p:cNvSpPr>
          <p:nvPr>
            <p:ph type="title"/>
          </p:nvPr>
        </p:nvSpPr>
        <p:spPr>
          <a:xfrm>
            <a:off x="3699630" y="578306"/>
            <a:ext cx="5649086" cy="784075"/>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FEATURE SELECTION</a:t>
            </a:r>
          </a:p>
        </p:txBody>
      </p:sp>
      <p:sp>
        <p:nvSpPr>
          <p:cNvPr id="3" name="Slide Number Placeholder 2">
            <a:extLst>
              <a:ext uri="{FF2B5EF4-FFF2-40B4-BE49-F238E27FC236}">
                <a16:creationId xmlns:a16="http://schemas.microsoft.com/office/drawing/2014/main" id="{EDB1C9D1-CBB2-DCAB-ACB8-08837CF6328D}"/>
              </a:ext>
            </a:extLst>
          </p:cNvPr>
          <p:cNvSpPr>
            <a:spLocks noGrp="1"/>
          </p:cNvSpPr>
          <p:nvPr>
            <p:ph type="sldNum" sz="quarter" idx="12"/>
          </p:nvPr>
        </p:nvSpPr>
        <p:spPr/>
        <p:txBody>
          <a:bodyPr/>
          <a:lstStyle/>
          <a:p>
            <a:fld id="{CB4D3031-0AEB-4687-8E23-04446010D3FF}" type="slidenum">
              <a:rPr lang="en-US" smtClean="0"/>
              <a:t>15</a:t>
            </a:fld>
            <a:endParaRPr lang="en-US"/>
          </a:p>
        </p:txBody>
      </p:sp>
      <p:graphicFrame>
        <p:nvGraphicFramePr>
          <p:cNvPr id="5" name="Table 4">
            <a:extLst>
              <a:ext uri="{FF2B5EF4-FFF2-40B4-BE49-F238E27FC236}">
                <a16:creationId xmlns:a16="http://schemas.microsoft.com/office/drawing/2014/main" id="{56485196-DF8C-A025-9A32-9F76738D4AAC}"/>
              </a:ext>
            </a:extLst>
          </p:cNvPr>
          <p:cNvGraphicFramePr>
            <a:graphicFrameLocks noGrp="1"/>
          </p:cNvGraphicFramePr>
          <p:nvPr>
            <p:extLst>
              <p:ext uri="{D42A27DB-BD31-4B8C-83A1-F6EECF244321}">
                <p14:modId xmlns:p14="http://schemas.microsoft.com/office/powerpoint/2010/main" val="1421717684"/>
              </p:ext>
            </p:extLst>
          </p:nvPr>
        </p:nvGraphicFramePr>
        <p:xfrm>
          <a:off x="4414712" y="1362382"/>
          <a:ext cx="4388094" cy="4665347"/>
        </p:xfrm>
        <a:graphic>
          <a:graphicData uri="http://schemas.openxmlformats.org/drawingml/2006/table">
            <a:tbl>
              <a:tblPr firstRow="1" firstCol="1" bandRow="1">
                <a:tableStyleId>{5C22544A-7EE6-4342-B048-85BDC9FD1C3A}</a:tableStyleId>
              </a:tblPr>
              <a:tblGrid>
                <a:gridCol w="775276">
                  <a:extLst>
                    <a:ext uri="{9D8B030D-6E8A-4147-A177-3AD203B41FA5}">
                      <a16:colId xmlns:a16="http://schemas.microsoft.com/office/drawing/2014/main" val="2689258805"/>
                    </a:ext>
                  </a:extLst>
                </a:gridCol>
                <a:gridCol w="1506760">
                  <a:extLst>
                    <a:ext uri="{9D8B030D-6E8A-4147-A177-3AD203B41FA5}">
                      <a16:colId xmlns:a16="http://schemas.microsoft.com/office/drawing/2014/main" val="655390271"/>
                    </a:ext>
                  </a:extLst>
                </a:gridCol>
                <a:gridCol w="2106058">
                  <a:extLst>
                    <a:ext uri="{9D8B030D-6E8A-4147-A177-3AD203B41FA5}">
                      <a16:colId xmlns:a16="http://schemas.microsoft.com/office/drawing/2014/main" val="599178324"/>
                    </a:ext>
                  </a:extLst>
                </a:gridCol>
              </a:tblGrid>
              <a:tr h="728313">
                <a:tc>
                  <a:txBody>
                    <a:bodyPr/>
                    <a:lstStyle/>
                    <a:p>
                      <a:pPr marL="0" marR="0" algn="ctr">
                        <a:lnSpc>
                          <a:spcPct val="150000"/>
                        </a:lnSpc>
                        <a:buNone/>
                      </a:pPr>
                      <a:r>
                        <a:rPr lang="en-US" sz="1400">
                          <a:effectLst/>
                        </a:rPr>
                        <a:t>Sr. No.</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buNone/>
                      </a:pPr>
                      <a:r>
                        <a:rPr lang="en-US" sz="1400">
                          <a:effectLst/>
                        </a:rPr>
                        <a:t>Feature</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buNone/>
                      </a:pPr>
                      <a:r>
                        <a:rPr lang="en-US" sz="1400" dirty="0">
                          <a:effectLst/>
                        </a:rPr>
                        <a:t>Feature Importance Score</a:t>
                      </a:r>
                      <a:endParaRPr lang="en-US" sz="12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002003652"/>
                  </a:ext>
                </a:extLst>
              </a:tr>
              <a:tr h="349404">
                <a:tc>
                  <a:txBody>
                    <a:bodyPr/>
                    <a:lstStyle/>
                    <a:p>
                      <a:pPr marL="0" marR="0" algn="ctr">
                        <a:lnSpc>
                          <a:spcPct val="150000"/>
                        </a:lnSpc>
                        <a:buNone/>
                      </a:pPr>
                      <a:r>
                        <a:rPr lang="en-US" sz="1400">
                          <a:effectLst/>
                        </a:rPr>
                        <a:t>1</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age</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dirty="0">
                          <a:effectLst/>
                        </a:rPr>
                        <a:t>0.308162</a:t>
                      </a:r>
                      <a:endParaRPr lang="en-US" sz="12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23826388"/>
                  </a:ext>
                </a:extLst>
              </a:tr>
              <a:tr h="368122">
                <a:tc>
                  <a:txBody>
                    <a:bodyPr/>
                    <a:lstStyle/>
                    <a:p>
                      <a:pPr marL="0" marR="0" algn="ctr">
                        <a:lnSpc>
                          <a:spcPct val="150000"/>
                        </a:lnSpc>
                        <a:buNone/>
                      </a:pPr>
                      <a:r>
                        <a:rPr lang="en-US" sz="1400">
                          <a:effectLst/>
                        </a:rPr>
                        <a:t>2</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ap_hi          </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0.172671</a:t>
                      </a:r>
                      <a:endParaRPr lang="en-US" sz="12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590646837"/>
                  </a:ext>
                </a:extLst>
              </a:tr>
              <a:tr h="349404">
                <a:tc>
                  <a:txBody>
                    <a:bodyPr/>
                    <a:lstStyle/>
                    <a:p>
                      <a:pPr marL="0" marR="0" algn="ctr">
                        <a:lnSpc>
                          <a:spcPct val="150000"/>
                        </a:lnSpc>
                        <a:buNone/>
                      </a:pPr>
                      <a:r>
                        <a:rPr lang="en-US" sz="1400">
                          <a:effectLst/>
                        </a:rPr>
                        <a:t>3</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weight         </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0.172423</a:t>
                      </a:r>
                      <a:endParaRPr lang="en-US" sz="12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384269104"/>
                  </a:ext>
                </a:extLst>
              </a:tr>
              <a:tr h="368122">
                <a:tc>
                  <a:txBody>
                    <a:bodyPr/>
                    <a:lstStyle/>
                    <a:p>
                      <a:pPr marL="0" marR="0" algn="ctr">
                        <a:lnSpc>
                          <a:spcPct val="150000"/>
                        </a:lnSpc>
                        <a:buNone/>
                      </a:pPr>
                      <a:r>
                        <a:rPr lang="en-US" sz="1400">
                          <a:effectLst/>
                        </a:rPr>
                        <a:t>4</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height         </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0.157008</a:t>
                      </a:r>
                      <a:endParaRPr lang="en-US" sz="12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46462017"/>
                  </a:ext>
                </a:extLst>
              </a:tr>
              <a:tr h="349404">
                <a:tc>
                  <a:txBody>
                    <a:bodyPr/>
                    <a:lstStyle/>
                    <a:p>
                      <a:pPr marL="0" marR="0" algn="ctr">
                        <a:lnSpc>
                          <a:spcPct val="150000"/>
                        </a:lnSpc>
                        <a:buNone/>
                      </a:pPr>
                      <a:r>
                        <a:rPr lang="en-US" sz="1400">
                          <a:effectLst/>
                        </a:rPr>
                        <a:t>5</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ap_lo          </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dirty="0">
                          <a:effectLst/>
                        </a:rPr>
                        <a:t>0.090245</a:t>
                      </a:r>
                      <a:endParaRPr lang="en-US" sz="12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005352534"/>
                  </a:ext>
                </a:extLst>
              </a:tr>
              <a:tr h="368122">
                <a:tc>
                  <a:txBody>
                    <a:bodyPr/>
                    <a:lstStyle/>
                    <a:p>
                      <a:pPr marL="0" marR="0" algn="ctr">
                        <a:lnSpc>
                          <a:spcPct val="150000"/>
                        </a:lnSpc>
                        <a:buNone/>
                      </a:pPr>
                      <a:r>
                        <a:rPr lang="en-US" sz="1400">
                          <a:effectLst/>
                        </a:rPr>
                        <a:t>6</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cholesterol</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0.038594</a:t>
                      </a:r>
                      <a:endParaRPr lang="en-US" sz="12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513292669"/>
                  </a:ext>
                </a:extLst>
              </a:tr>
              <a:tr h="349404">
                <a:tc>
                  <a:txBody>
                    <a:bodyPr/>
                    <a:lstStyle/>
                    <a:p>
                      <a:pPr marL="0" marR="0" algn="ctr">
                        <a:lnSpc>
                          <a:spcPct val="150000"/>
                        </a:lnSpc>
                        <a:buNone/>
                      </a:pPr>
                      <a:r>
                        <a:rPr lang="en-US" sz="1400">
                          <a:effectLst/>
                        </a:rPr>
                        <a:t>7</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gluc</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0.016222</a:t>
                      </a:r>
                      <a:endParaRPr lang="en-US" sz="12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591632455"/>
                  </a:ext>
                </a:extLst>
              </a:tr>
              <a:tr h="368122">
                <a:tc>
                  <a:txBody>
                    <a:bodyPr/>
                    <a:lstStyle/>
                    <a:p>
                      <a:pPr marL="0" marR="0" algn="ctr">
                        <a:lnSpc>
                          <a:spcPct val="150000"/>
                        </a:lnSpc>
                        <a:buNone/>
                      </a:pPr>
                      <a:r>
                        <a:rPr lang="en-US" sz="1400">
                          <a:effectLst/>
                        </a:rPr>
                        <a:t>8</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gender</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0.015581</a:t>
                      </a:r>
                      <a:endParaRPr lang="en-US" sz="12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038082285"/>
                  </a:ext>
                </a:extLst>
              </a:tr>
              <a:tr h="349404">
                <a:tc>
                  <a:txBody>
                    <a:bodyPr/>
                    <a:lstStyle/>
                    <a:p>
                      <a:pPr marL="0" marR="0" algn="ctr">
                        <a:lnSpc>
                          <a:spcPct val="150000"/>
                        </a:lnSpc>
                        <a:buNone/>
                      </a:pPr>
                      <a:r>
                        <a:rPr lang="en-US" sz="1400">
                          <a:effectLst/>
                        </a:rPr>
                        <a:t>9</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active</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dirty="0">
                          <a:effectLst/>
                        </a:rPr>
                        <a:t>0.013170</a:t>
                      </a:r>
                      <a:endParaRPr lang="en-US" sz="12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507888769"/>
                  </a:ext>
                </a:extLst>
              </a:tr>
              <a:tr h="368122">
                <a:tc>
                  <a:txBody>
                    <a:bodyPr/>
                    <a:lstStyle/>
                    <a:p>
                      <a:pPr marL="0" marR="0" algn="ctr">
                        <a:lnSpc>
                          <a:spcPct val="150000"/>
                        </a:lnSpc>
                        <a:buNone/>
                      </a:pPr>
                      <a:r>
                        <a:rPr lang="en-US" sz="1400">
                          <a:effectLst/>
                        </a:rPr>
                        <a:t>10</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smoke</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0.008399</a:t>
                      </a:r>
                      <a:endParaRPr lang="en-US" sz="12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771076646"/>
                  </a:ext>
                </a:extLst>
              </a:tr>
              <a:tr h="349404">
                <a:tc>
                  <a:txBody>
                    <a:bodyPr/>
                    <a:lstStyle/>
                    <a:p>
                      <a:pPr marL="0" marR="0" algn="ctr">
                        <a:lnSpc>
                          <a:spcPct val="150000"/>
                        </a:lnSpc>
                        <a:buNone/>
                      </a:pPr>
                      <a:r>
                        <a:rPr lang="en-US" sz="1400">
                          <a:effectLst/>
                        </a:rPr>
                        <a:t>11</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a:effectLst/>
                        </a:rPr>
                        <a:t>alco</a:t>
                      </a:r>
                      <a:endParaRPr lang="en-US" sz="12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buNone/>
                      </a:pPr>
                      <a:r>
                        <a:rPr lang="en-US" sz="1400" dirty="0">
                          <a:effectLst/>
                        </a:rPr>
                        <a:t>0.007525</a:t>
                      </a:r>
                      <a:endParaRPr lang="en-US" sz="12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650247989"/>
                  </a:ext>
                </a:extLst>
              </a:tr>
            </a:tbl>
          </a:graphicData>
        </a:graphic>
      </p:graphicFrame>
      <p:sp>
        <p:nvSpPr>
          <p:cNvPr id="6" name="Rectangle 1">
            <a:extLst>
              <a:ext uri="{FF2B5EF4-FFF2-40B4-BE49-F238E27FC236}">
                <a16:creationId xmlns:a16="http://schemas.microsoft.com/office/drawing/2014/main" id="{855077CA-674E-3920-B570-7819FD8DB1B2}"/>
              </a:ext>
            </a:extLst>
          </p:cNvPr>
          <p:cNvSpPr>
            <a:spLocks noChangeArrowheads="1"/>
          </p:cNvSpPr>
          <p:nvPr/>
        </p:nvSpPr>
        <p:spPr bwMode="auto">
          <a:xfrm>
            <a:off x="3031155" y="6242447"/>
            <a:ext cx="6317561"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bmk="_Toc20540784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Cardiovascular Disease Prediction Dataset with Feature Importance (CDP)</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7890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2177473" y="282138"/>
            <a:ext cx="8085644" cy="727796"/>
          </a:xfrm>
        </p:spPr>
        <p:txBody>
          <a:bodyPr>
            <a:noAutofit/>
          </a:bodyPr>
          <a:lstStyle/>
          <a:p>
            <a:pPr algn="ctr"/>
            <a:r>
              <a:rPr lang="en-US" b="1" dirty="0">
                <a:latin typeface="Times New Roman" panose="02020603050405020304" pitchFamily="18" charset="0"/>
                <a:cs typeface="Times New Roman" panose="02020603050405020304" pitchFamily="18" charset="0"/>
              </a:rPr>
              <a:t>Multi-Layer Perceptron Algorithm</a:t>
            </a:r>
            <a:br>
              <a:rPr lang="en-GB"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CB4D3031-0AEB-4687-8E23-04446010D3FF}" type="slidenum">
              <a:rPr lang="en-US" smtClean="0"/>
              <a:t>16</a:t>
            </a:fld>
            <a:endParaRPr lang="en-US"/>
          </a:p>
        </p:txBody>
      </p:sp>
      <p:sp>
        <p:nvSpPr>
          <p:cNvPr id="6" name="TextBox 5">
            <a:extLst>
              <a:ext uri="{FF2B5EF4-FFF2-40B4-BE49-F238E27FC236}">
                <a16:creationId xmlns:a16="http://schemas.microsoft.com/office/drawing/2014/main" id="{CCF4534C-18E3-C523-FFBA-2E81751734CA}"/>
              </a:ext>
            </a:extLst>
          </p:cNvPr>
          <p:cNvSpPr txBox="1"/>
          <p:nvPr/>
        </p:nvSpPr>
        <p:spPr>
          <a:xfrm>
            <a:off x="1311579" y="5530234"/>
            <a:ext cx="4188469" cy="646331"/>
          </a:xfrm>
          <a:prstGeom prst="rect">
            <a:avLst/>
          </a:prstGeom>
          <a:noFill/>
        </p:spPr>
        <p:txBody>
          <a:bodyPr wrap="square">
            <a:spAutoFit/>
          </a:bodyPr>
          <a:lstStyle/>
          <a:p>
            <a:r>
              <a:rPr lang="en-US" sz="1800" kern="0" dirty="0">
                <a:effectLst/>
                <a:latin typeface="Times New Roman" panose="02020603050405020304" pitchFamily="18" charset="0"/>
                <a:ea typeface="Calibri" panose="020F0502020204030204" pitchFamily="34" charset="0"/>
              </a:rPr>
              <a:t>Multi-Layer Perceptron (MLP) Confusion Matrix Algorithm</a:t>
            </a:r>
            <a:endParaRPr lang="en-US" dirty="0"/>
          </a:p>
        </p:txBody>
      </p:sp>
      <p:sp>
        <p:nvSpPr>
          <p:cNvPr id="9" name="TextBox 8">
            <a:extLst>
              <a:ext uri="{FF2B5EF4-FFF2-40B4-BE49-F238E27FC236}">
                <a16:creationId xmlns:a16="http://schemas.microsoft.com/office/drawing/2014/main" id="{E45C1558-B3CB-EA61-BB9B-15815CEE3CF2}"/>
              </a:ext>
            </a:extLst>
          </p:cNvPr>
          <p:cNvSpPr txBox="1"/>
          <p:nvPr/>
        </p:nvSpPr>
        <p:spPr>
          <a:xfrm>
            <a:off x="6691952" y="5530234"/>
            <a:ext cx="4188469" cy="646331"/>
          </a:xfrm>
          <a:prstGeom prst="rect">
            <a:avLst/>
          </a:prstGeom>
          <a:noFill/>
        </p:spPr>
        <p:txBody>
          <a:bodyPr wrap="square">
            <a:spAutoFit/>
          </a:bodyPr>
          <a:lstStyle/>
          <a:p>
            <a:r>
              <a:rPr lang="en-US" sz="1800" kern="0" dirty="0">
                <a:effectLst/>
                <a:latin typeface="Times New Roman" panose="02020603050405020304" pitchFamily="18" charset="0"/>
                <a:ea typeface="Calibri" panose="020F0502020204030204" pitchFamily="34" charset="0"/>
              </a:rPr>
              <a:t>Multi-Layer Perceptron's (MLP) Receiver Operating Characteristic (ROC) Curve</a:t>
            </a:r>
            <a:endParaRPr lang="en-US" dirty="0"/>
          </a:p>
        </p:txBody>
      </p:sp>
      <p:pic>
        <p:nvPicPr>
          <p:cNvPr id="2" name="Picture 1">
            <a:extLst>
              <a:ext uri="{FF2B5EF4-FFF2-40B4-BE49-F238E27FC236}">
                <a16:creationId xmlns:a16="http://schemas.microsoft.com/office/drawing/2014/main" id="{9A2774D2-A3F8-2BE4-8BC1-2A81E3ABF0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5412" y="1599917"/>
            <a:ext cx="4510139" cy="3658165"/>
          </a:xfrm>
          <a:prstGeom prst="rect">
            <a:avLst/>
          </a:prstGeom>
        </p:spPr>
      </p:pic>
      <p:pic>
        <p:nvPicPr>
          <p:cNvPr id="5" name="Picture 4">
            <a:extLst>
              <a:ext uri="{FF2B5EF4-FFF2-40B4-BE49-F238E27FC236}">
                <a16:creationId xmlns:a16="http://schemas.microsoft.com/office/drawing/2014/main" id="{9467E1F8-11E0-193F-6F52-A17CE8F52B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17860" y="1605252"/>
            <a:ext cx="5011479" cy="3652830"/>
          </a:xfrm>
          <a:prstGeom prst="rect">
            <a:avLst/>
          </a:prstGeom>
        </p:spPr>
      </p:pic>
    </p:spTree>
    <p:extLst>
      <p:ext uri="{BB962C8B-B14F-4D97-AF65-F5344CB8AC3E}">
        <p14:creationId xmlns:p14="http://schemas.microsoft.com/office/powerpoint/2010/main" val="1828637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10911-8654-8806-5B93-DB4EAB65892E}"/>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FE58EDB8-18EB-1995-05D0-6657F9E7E964}"/>
              </a:ext>
            </a:extLst>
          </p:cNvPr>
          <p:cNvSpPr>
            <a:spLocks noGrp="1"/>
          </p:cNvSpPr>
          <p:nvPr>
            <p:ph type="title"/>
          </p:nvPr>
        </p:nvSpPr>
        <p:spPr>
          <a:xfrm>
            <a:off x="2177473" y="282138"/>
            <a:ext cx="8085644" cy="727796"/>
          </a:xfrm>
        </p:spPr>
        <p:txBody>
          <a:bodyPr>
            <a:noAutofit/>
          </a:bodyPr>
          <a:lstStyle/>
          <a:p>
            <a:pPr algn="ctr"/>
            <a:r>
              <a:rPr lang="en-US" b="1" dirty="0">
                <a:latin typeface="Times New Roman" panose="02020603050405020304" pitchFamily="18" charset="0"/>
                <a:cs typeface="Times New Roman" panose="02020603050405020304" pitchFamily="18" charset="0"/>
              </a:rPr>
              <a:t>Stochastic Gradient Descent Algorithm</a:t>
            </a:r>
          </a:p>
        </p:txBody>
      </p:sp>
      <p:sp>
        <p:nvSpPr>
          <p:cNvPr id="3" name="Slide Number Placeholder 2">
            <a:extLst>
              <a:ext uri="{FF2B5EF4-FFF2-40B4-BE49-F238E27FC236}">
                <a16:creationId xmlns:a16="http://schemas.microsoft.com/office/drawing/2014/main" id="{8AFCCC9D-443A-F0D8-885A-AF1AB5FC5976}"/>
              </a:ext>
            </a:extLst>
          </p:cNvPr>
          <p:cNvSpPr>
            <a:spLocks noGrp="1"/>
          </p:cNvSpPr>
          <p:nvPr>
            <p:ph type="sldNum" sz="quarter" idx="12"/>
          </p:nvPr>
        </p:nvSpPr>
        <p:spPr/>
        <p:txBody>
          <a:bodyPr/>
          <a:lstStyle/>
          <a:p>
            <a:fld id="{CB4D3031-0AEB-4687-8E23-04446010D3FF}" type="slidenum">
              <a:rPr lang="en-US" smtClean="0"/>
              <a:t>17</a:t>
            </a:fld>
            <a:endParaRPr lang="en-US"/>
          </a:p>
        </p:txBody>
      </p:sp>
      <p:sp>
        <p:nvSpPr>
          <p:cNvPr id="6" name="TextBox 5">
            <a:extLst>
              <a:ext uri="{FF2B5EF4-FFF2-40B4-BE49-F238E27FC236}">
                <a16:creationId xmlns:a16="http://schemas.microsoft.com/office/drawing/2014/main" id="{D30F735B-F873-E571-0B24-441394073C96}"/>
              </a:ext>
            </a:extLst>
          </p:cNvPr>
          <p:cNvSpPr txBox="1"/>
          <p:nvPr/>
        </p:nvSpPr>
        <p:spPr>
          <a:xfrm>
            <a:off x="1311579" y="5496809"/>
            <a:ext cx="4188469" cy="646331"/>
          </a:xfrm>
          <a:prstGeom prst="rect">
            <a:avLst/>
          </a:prstGeom>
          <a:noFill/>
        </p:spPr>
        <p:txBody>
          <a:bodyPr wrap="square">
            <a:spAutoFit/>
          </a:bodyPr>
          <a:lstStyle/>
          <a:p>
            <a:r>
              <a:rPr lang="fr-FR" sz="1800" kern="0" dirty="0" err="1">
                <a:effectLst/>
                <a:latin typeface="Times New Roman" panose="02020603050405020304" pitchFamily="18" charset="0"/>
                <a:ea typeface="Calibri" panose="020F0502020204030204" pitchFamily="34" charset="0"/>
              </a:rPr>
              <a:t>Stochastic</a:t>
            </a:r>
            <a:r>
              <a:rPr lang="fr-FR" sz="1800" kern="0" dirty="0">
                <a:effectLst/>
                <a:latin typeface="Times New Roman" panose="02020603050405020304" pitchFamily="18" charset="0"/>
                <a:ea typeface="Calibri" panose="020F0502020204030204" pitchFamily="34" charset="0"/>
              </a:rPr>
              <a:t> Gradient </a:t>
            </a:r>
            <a:r>
              <a:rPr lang="fr-FR" sz="1800" kern="0" dirty="0" err="1">
                <a:effectLst/>
                <a:latin typeface="Times New Roman" panose="02020603050405020304" pitchFamily="18" charset="0"/>
                <a:ea typeface="Calibri" panose="020F0502020204030204" pitchFamily="34" charset="0"/>
              </a:rPr>
              <a:t>Descent</a:t>
            </a:r>
            <a:r>
              <a:rPr lang="fr-FR" sz="1800" kern="0" dirty="0">
                <a:effectLst/>
                <a:latin typeface="Times New Roman" panose="02020603050405020304" pitchFamily="18" charset="0"/>
                <a:ea typeface="Calibri" panose="020F0502020204030204" pitchFamily="34" charset="0"/>
              </a:rPr>
              <a:t> (SGD) Confusion Matrix Algorithme</a:t>
            </a:r>
            <a:endParaRPr lang="en-US" dirty="0"/>
          </a:p>
        </p:txBody>
      </p:sp>
      <p:sp>
        <p:nvSpPr>
          <p:cNvPr id="9" name="TextBox 8">
            <a:extLst>
              <a:ext uri="{FF2B5EF4-FFF2-40B4-BE49-F238E27FC236}">
                <a16:creationId xmlns:a16="http://schemas.microsoft.com/office/drawing/2014/main" id="{FCE9FA9B-E06A-7314-442C-F318B9B2430C}"/>
              </a:ext>
            </a:extLst>
          </p:cNvPr>
          <p:cNvSpPr txBox="1"/>
          <p:nvPr/>
        </p:nvSpPr>
        <p:spPr>
          <a:xfrm>
            <a:off x="6848134" y="5496809"/>
            <a:ext cx="4188469" cy="646331"/>
          </a:xfrm>
          <a:prstGeom prst="rect">
            <a:avLst/>
          </a:prstGeom>
          <a:noFill/>
        </p:spPr>
        <p:txBody>
          <a:bodyPr wrap="square">
            <a:spAutoFit/>
          </a:bodyPr>
          <a:lstStyle/>
          <a:p>
            <a:r>
              <a:rPr lang="en-US" sz="1800" kern="0" dirty="0">
                <a:effectLst/>
                <a:latin typeface="Times New Roman" panose="02020603050405020304" pitchFamily="18" charset="0"/>
                <a:ea typeface="Calibri" panose="020F0502020204030204" pitchFamily="34" charset="0"/>
              </a:rPr>
              <a:t>Stochastic Gradient Descent (SGD) Receiver Operating Characteristic Curve</a:t>
            </a:r>
            <a:endParaRPr lang="en-US" dirty="0"/>
          </a:p>
        </p:txBody>
      </p:sp>
      <p:pic>
        <p:nvPicPr>
          <p:cNvPr id="4" name="Picture 3">
            <a:extLst>
              <a:ext uri="{FF2B5EF4-FFF2-40B4-BE49-F238E27FC236}">
                <a16:creationId xmlns:a16="http://schemas.microsoft.com/office/drawing/2014/main" id="{41629E4B-11DE-8B14-D042-433F644396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1695" y="1598106"/>
            <a:ext cx="4501525" cy="3633697"/>
          </a:xfrm>
          <a:prstGeom prst="rect">
            <a:avLst/>
          </a:prstGeom>
        </p:spPr>
      </p:pic>
      <p:pic>
        <p:nvPicPr>
          <p:cNvPr id="7" name="Picture 6">
            <a:extLst>
              <a:ext uri="{FF2B5EF4-FFF2-40B4-BE49-F238E27FC236}">
                <a16:creationId xmlns:a16="http://schemas.microsoft.com/office/drawing/2014/main" id="{25B9FD16-9422-D046-2605-0F016D201E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96287" y="1598106"/>
            <a:ext cx="4974018" cy="3633697"/>
          </a:xfrm>
          <a:prstGeom prst="rect">
            <a:avLst/>
          </a:prstGeom>
        </p:spPr>
      </p:pic>
    </p:spTree>
    <p:extLst>
      <p:ext uri="{BB962C8B-B14F-4D97-AF65-F5344CB8AC3E}">
        <p14:creationId xmlns:p14="http://schemas.microsoft.com/office/powerpoint/2010/main" val="746763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0717-8FDD-4DBA-D3FF-4B227926C6E5}"/>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418DFCBF-7C7B-D2C2-2CCE-51983B96821C}"/>
              </a:ext>
            </a:extLst>
          </p:cNvPr>
          <p:cNvSpPr>
            <a:spLocks noGrp="1"/>
          </p:cNvSpPr>
          <p:nvPr>
            <p:ph type="title"/>
          </p:nvPr>
        </p:nvSpPr>
        <p:spPr>
          <a:xfrm>
            <a:off x="2177473" y="282138"/>
            <a:ext cx="8085644" cy="727796"/>
          </a:xfrm>
        </p:spPr>
        <p:txBody>
          <a:bodyPr>
            <a:noAutofit/>
          </a:bodyPr>
          <a:lstStyle/>
          <a:p>
            <a:pPr algn="ctr"/>
            <a:r>
              <a:rPr lang="en-US" b="1" dirty="0">
                <a:latin typeface="Times New Roman" panose="02020603050405020304" pitchFamily="18" charset="0"/>
                <a:cs typeface="Times New Roman" panose="02020603050405020304" pitchFamily="18" charset="0"/>
              </a:rPr>
              <a:t>Support Vector Machine Algorithm</a:t>
            </a:r>
          </a:p>
        </p:txBody>
      </p:sp>
      <p:sp>
        <p:nvSpPr>
          <p:cNvPr id="3" name="Slide Number Placeholder 2">
            <a:extLst>
              <a:ext uri="{FF2B5EF4-FFF2-40B4-BE49-F238E27FC236}">
                <a16:creationId xmlns:a16="http://schemas.microsoft.com/office/drawing/2014/main" id="{FCFE55C7-DF81-CB7E-2F2F-88E57F01E18E}"/>
              </a:ext>
            </a:extLst>
          </p:cNvPr>
          <p:cNvSpPr>
            <a:spLocks noGrp="1"/>
          </p:cNvSpPr>
          <p:nvPr>
            <p:ph type="sldNum" sz="quarter" idx="12"/>
          </p:nvPr>
        </p:nvSpPr>
        <p:spPr/>
        <p:txBody>
          <a:bodyPr/>
          <a:lstStyle/>
          <a:p>
            <a:fld id="{CB4D3031-0AEB-4687-8E23-04446010D3FF}" type="slidenum">
              <a:rPr lang="en-US" smtClean="0"/>
              <a:t>18</a:t>
            </a:fld>
            <a:endParaRPr lang="en-US"/>
          </a:p>
        </p:txBody>
      </p:sp>
      <p:sp>
        <p:nvSpPr>
          <p:cNvPr id="6" name="TextBox 5">
            <a:extLst>
              <a:ext uri="{FF2B5EF4-FFF2-40B4-BE49-F238E27FC236}">
                <a16:creationId xmlns:a16="http://schemas.microsoft.com/office/drawing/2014/main" id="{CD39E090-0DC9-DA2B-8BF1-930398D48760}"/>
              </a:ext>
            </a:extLst>
          </p:cNvPr>
          <p:cNvSpPr txBox="1"/>
          <p:nvPr/>
        </p:nvSpPr>
        <p:spPr>
          <a:xfrm>
            <a:off x="1311580" y="5391392"/>
            <a:ext cx="4188469" cy="646331"/>
          </a:xfrm>
          <a:prstGeom prst="rect">
            <a:avLst/>
          </a:prstGeom>
          <a:noFill/>
        </p:spPr>
        <p:txBody>
          <a:bodyPr wrap="square">
            <a:spAutoFit/>
          </a:bodyPr>
          <a:lstStyle/>
          <a:p>
            <a:r>
              <a:rPr lang="fr-FR" sz="1800" kern="0" dirty="0">
                <a:effectLst/>
                <a:latin typeface="Times New Roman" panose="02020603050405020304" pitchFamily="18" charset="0"/>
                <a:ea typeface="Calibri" panose="020F0502020204030204" pitchFamily="34" charset="0"/>
              </a:rPr>
              <a:t>Support </a:t>
            </a:r>
            <a:r>
              <a:rPr lang="fr-FR" sz="1800" kern="0" dirty="0" err="1">
                <a:effectLst/>
                <a:latin typeface="Times New Roman" panose="02020603050405020304" pitchFamily="18" charset="0"/>
                <a:ea typeface="Calibri" panose="020F0502020204030204" pitchFamily="34" charset="0"/>
              </a:rPr>
              <a:t>Vector</a:t>
            </a:r>
            <a:r>
              <a:rPr lang="fr-FR" sz="1800" kern="0" dirty="0">
                <a:effectLst/>
                <a:latin typeface="Times New Roman" panose="02020603050405020304" pitchFamily="18" charset="0"/>
                <a:ea typeface="Calibri" panose="020F0502020204030204" pitchFamily="34" charset="0"/>
              </a:rPr>
              <a:t> Machine (SVM) Confusion Matrix </a:t>
            </a:r>
            <a:r>
              <a:rPr lang="fr-FR" sz="1800" kern="0" dirty="0" err="1">
                <a:effectLst/>
                <a:latin typeface="Times New Roman" panose="02020603050405020304" pitchFamily="18" charset="0"/>
                <a:ea typeface="Calibri" panose="020F0502020204030204" pitchFamily="34" charset="0"/>
              </a:rPr>
              <a:t>Algorithm</a:t>
            </a:r>
            <a:endParaRPr lang="en-US" dirty="0"/>
          </a:p>
        </p:txBody>
      </p:sp>
      <p:sp>
        <p:nvSpPr>
          <p:cNvPr id="9" name="TextBox 8">
            <a:extLst>
              <a:ext uri="{FF2B5EF4-FFF2-40B4-BE49-F238E27FC236}">
                <a16:creationId xmlns:a16="http://schemas.microsoft.com/office/drawing/2014/main" id="{DCE40708-2338-5DB7-D39E-B989AA8F8664}"/>
              </a:ext>
            </a:extLst>
          </p:cNvPr>
          <p:cNvSpPr txBox="1"/>
          <p:nvPr/>
        </p:nvSpPr>
        <p:spPr>
          <a:xfrm>
            <a:off x="6818367" y="5391392"/>
            <a:ext cx="4188469" cy="646331"/>
          </a:xfrm>
          <a:prstGeom prst="rect">
            <a:avLst/>
          </a:prstGeom>
          <a:noFill/>
        </p:spPr>
        <p:txBody>
          <a:bodyPr wrap="square">
            <a:spAutoFit/>
          </a:bodyPr>
          <a:lstStyle/>
          <a:p>
            <a:r>
              <a:rPr lang="en-US" sz="1800" kern="0" dirty="0">
                <a:effectLst/>
                <a:latin typeface="Times New Roman" panose="02020603050405020304" pitchFamily="18" charset="0"/>
                <a:ea typeface="Calibri" panose="020F0502020204030204" pitchFamily="34" charset="0"/>
              </a:rPr>
              <a:t>Support Vector Machine (SVM) Receiver Operating Characteristic (ROC) Curve</a:t>
            </a:r>
            <a:endParaRPr lang="en-US" dirty="0"/>
          </a:p>
        </p:txBody>
      </p:sp>
      <p:pic>
        <p:nvPicPr>
          <p:cNvPr id="2" name="Picture 1">
            <a:extLst>
              <a:ext uri="{FF2B5EF4-FFF2-40B4-BE49-F238E27FC236}">
                <a16:creationId xmlns:a16="http://schemas.microsoft.com/office/drawing/2014/main" id="{D59A2177-F97D-58F2-ACB9-879AB0F4B5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5399" y="1507050"/>
            <a:ext cx="4325166" cy="3557961"/>
          </a:xfrm>
          <a:prstGeom prst="rect">
            <a:avLst/>
          </a:prstGeom>
        </p:spPr>
      </p:pic>
      <p:pic>
        <p:nvPicPr>
          <p:cNvPr id="5" name="Picture 4">
            <a:extLst>
              <a:ext uri="{FF2B5EF4-FFF2-40B4-BE49-F238E27FC236}">
                <a16:creationId xmlns:a16="http://schemas.microsoft.com/office/drawing/2014/main" id="{FEC9CE38-E03E-41BA-AA2B-98E652E637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56856" y="1507050"/>
            <a:ext cx="4911492" cy="3557961"/>
          </a:xfrm>
          <a:prstGeom prst="rect">
            <a:avLst/>
          </a:prstGeom>
        </p:spPr>
      </p:pic>
    </p:spTree>
    <p:extLst>
      <p:ext uri="{BB962C8B-B14F-4D97-AF65-F5344CB8AC3E}">
        <p14:creationId xmlns:p14="http://schemas.microsoft.com/office/powerpoint/2010/main" val="2661878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136E7-CDF7-B0C1-13D8-3725112DF0AC}"/>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BDB46876-6BBC-23FB-A67C-BF5EC0D27C5E}"/>
              </a:ext>
            </a:extLst>
          </p:cNvPr>
          <p:cNvSpPr>
            <a:spLocks noGrp="1"/>
          </p:cNvSpPr>
          <p:nvPr>
            <p:ph type="title"/>
          </p:nvPr>
        </p:nvSpPr>
        <p:spPr>
          <a:xfrm>
            <a:off x="2177473" y="282138"/>
            <a:ext cx="9068282" cy="1219116"/>
          </a:xfrm>
        </p:spPr>
        <p:txBody>
          <a:bodyPr>
            <a:noAutofit/>
          </a:bodyPr>
          <a:lstStyle/>
          <a:p>
            <a:pPr algn="ctr"/>
            <a:r>
              <a:rPr lang="en-US" b="1" dirty="0">
                <a:latin typeface="Times New Roman" panose="02020603050405020304" pitchFamily="18" charset="0"/>
                <a:cs typeface="Times New Roman" panose="02020603050405020304" pitchFamily="18" charset="0"/>
              </a:rPr>
              <a:t>Quadratic Discriminant Analysis (QDA) Algorithm</a:t>
            </a:r>
          </a:p>
        </p:txBody>
      </p:sp>
      <p:sp>
        <p:nvSpPr>
          <p:cNvPr id="3" name="Slide Number Placeholder 2">
            <a:extLst>
              <a:ext uri="{FF2B5EF4-FFF2-40B4-BE49-F238E27FC236}">
                <a16:creationId xmlns:a16="http://schemas.microsoft.com/office/drawing/2014/main" id="{198783FB-BB96-6C58-3E05-E5B2D4EEA846}"/>
              </a:ext>
            </a:extLst>
          </p:cNvPr>
          <p:cNvSpPr>
            <a:spLocks noGrp="1"/>
          </p:cNvSpPr>
          <p:nvPr>
            <p:ph type="sldNum" sz="quarter" idx="12"/>
          </p:nvPr>
        </p:nvSpPr>
        <p:spPr/>
        <p:txBody>
          <a:bodyPr/>
          <a:lstStyle/>
          <a:p>
            <a:fld id="{CB4D3031-0AEB-4687-8E23-04446010D3FF}" type="slidenum">
              <a:rPr lang="en-US" smtClean="0"/>
              <a:t>19</a:t>
            </a:fld>
            <a:endParaRPr lang="en-US"/>
          </a:p>
        </p:txBody>
      </p:sp>
      <p:sp>
        <p:nvSpPr>
          <p:cNvPr id="6" name="TextBox 5">
            <a:extLst>
              <a:ext uri="{FF2B5EF4-FFF2-40B4-BE49-F238E27FC236}">
                <a16:creationId xmlns:a16="http://schemas.microsoft.com/office/drawing/2014/main" id="{4F5C95F9-6533-233D-1E52-F928110F65A2}"/>
              </a:ext>
            </a:extLst>
          </p:cNvPr>
          <p:cNvSpPr txBox="1"/>
          <p:nvPr/>
        </p:nvSpPr>
        <p:spPr>
          <a:xfrm>
            <a:off x="1563053" y="5677002"/>
            <a:ext cx="4188469" cy="646331"/>
          </a:xfrm>
          <a:prstGeom prst="rect">
            <a:avLst/>
          </a:prstGeom>
          <a:noFill/>
        </p:spPr>
        <p:txBody>
          <a:bodyPr wrap="square">
            <a:spAutoFit/>
          </a:bodyPr>
          <a:lstStyle/>
          <a:p>
            <a:r>
              <a:rPr lang="fr-FR" sz="1800" kern="0" dirty="0" err="1">
                <a:effectLst/>
                <a:latin typeface="Times New Roman" panose="02020603050405020304" pitchFamily="18" charset="0"/>
                <a:ea typeface="Calibri" panose="020F0502020204030204" pitchFamily="34" charset="0"/>
              </a:rPr>
              <a:t>Quadratic</a:t>
            </a:r>
            <a:r>
              <a:rPr lang="fr-FR" sz="1800" kern="0" dirty="0">
                <a:effectLst/>
                <a:latin typeface="Times New Roman" panose="02020603050405020304" pitchFamily="18" charset="0"/>
                <a:ea typeface="Calibri" panose="020F0502020204030204" pitchFamily="34" charset="0"/>
              </a:rPr>
              <a:t> Discriminant </a:t>
            </a:r>
            <a:r>
              <a:rPr lang="fr-FR" sz="1800" kern="0" dirty="0" err="1">
                <a:effectLst/>
                <a:latin typeface="Times New Roman" panose="02020603050405020304" pitchFamily="18" charset="0"/>
                <a:ea typeface="Calibri" panose="020F0502020204030204" pitchFamily="34" charset="0"/>
              </a:rPr>
              <a:t>Analysis</a:t>
            </a:r>
            <a:r>
              <a:rPr lang="fr-FR" sz="1800" kern="0" dirty="0">
                <a:effectLst/>
                <a:latin typeface="Times New Roman" panose="02020603050405020304" pitchFamily="18" charset="0"/>
                <a:ea typeface="Calibri" panose="020F0502020204030204" pitchFamily="34" charset="0"/>
              </a:rPr>
              <a:t> (QDA) Confusion Matrix </a:t>
            </a:r>
            <a:r>
              <a:rPr lang="fr-FR" sz="1800" kern="0" dirty="0" err="1">
                <a:effectLst/>
                <a:latin typeface="Times New Roman" panose="02020603050405020304" pitchFamily="18" charset="0"/>
                <a:ea typeface="Calibri" panose="020F0502020204030204" pitchFamily="34" charset="0"/>
              </a:rPr>
              <a:t>Algorithm</a:t>
            </a:r>
            <a:endParaRPr lang="en-US" dirty="0"/>
          </a:p>
        </p:txBody>
      </p:sp>
      <p:sp>
        <p:nvSpPr>
          <p:cNvPr id="9" name="TextBox 8">
            <a:extLst>
              <a:ext uri="{FF2B5EF4-FFF2-40B4-BE49-F238E27FC236}">
                <a16:creationId xmlns:a16="http://schemas.microsoft.com/office/drawing/2014/main" id="{9F7B0C50-6CE6-F279-4B6F-2E9FA49E4E3E}"/>
              </a:ext>
            </a:extLst>
          </p:cNvPr>
          <p:cNvSpPr txBox="1"/>
          <p:nvPr/>
        </p:nvSpPr>
        <p:spPr>
          <a:xfrm>
            <a:off x="6691952" y="5538503"/>
            <a:ext cx="4188469" cy="923330"/>
          </a:xfrm>
          <a:prstGeom prst="rect">
            <a:avLst/>
          </a:prstGeom>
          <a:noFill/>
        </p:spPr>
        <p:txBody>
          <a:bodyPr wrap="square">
            <a:spAutoFit/>
          </a:bodyPr>
          <a:lstStyle/>
          <a:p>
            <a:r>
              <a:rPr lang="en-US" sz="1800" kern="0" dirty="0">
                <a:effectLst/>
                <a:latin typeface="Times New Roman" panose="02020603050405020304" pitchFamily="18" charset="0"/>
                <a:ea typeface="Calibri" panose="020F0502020204030204" pitchFamily="34" charset="0"/>
              </a:rPr>
              <a:t>Quadratic Discriminant Analysis (QDA) Receiver Operating Characteristic (ROC) Curve</a:t>
            </a:r>
            <a:endParaRPr lang="en-US" dirty="0"/>
          </a:p>
        </p:txBody>
      </p:sp>
      <p:pic>
        <p:nvPicPr>
          <p:cNvPr id="4" name="Picture 3">
            <a:extLst>
              <a:ext uri="{FF2B5EF4-FFF2-40B4-BE49-F238E27FC236}">
                <a16:creationId xmlns:a16="http://schemas.microsoft.com/office/drawing/2014/main" id="{984D52BD-7CA6-ABE7-F97C-5275FBDE12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63053" y="1721790"/>
            <a:ext cx="4381707" cy="3816713"/>
          </a:xfrm>
          <a:prstGeom prst="rect">
            <a:avLst/>
          </a:prstGeom>
        </p:spPr>
      </p:pic>
      <p:pic>
        <p:nvPicPr>
          <p:cNvPr id="7" name="Picture 6">
            <a:extLst>
              <a:ext uri="{FF2B5EF4-FFF2-40B4-BE49-F238E27FC236}">
                <a16:creationId xmlns:a16="http://schemas.microsoft.com/office/drawing/2014/main" id="{E052D748-9B57-CCAB-C68E-9020A267C5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04388" y="1721790"/>
            <a:ext cx="4741367" cy="3728548"/>
          </a:xfrm>
          <a:prstGeom prst="rect">
            <a:avLst/>
          </a:prstGeom>
        </p:spPr>
      </p:pic>
    </p:spTree>
    <p:extLst>
      <p:ext uri="{BB962C8B-B14F-4D97-AF65-F5344CB8AC3E}">
        <p14:creationId xmlns:p14="http://schemas.microsoft.com/office/powerpoint/2010/main" val="2257370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2811438" y="517289"/>
            <a:ext cx="6987655" cy="635618"/>
          </a:xfrm>
        </p:spPr>
        <p:txBody>
          <a:bodyPr>
            <a:noAutofit/>
          </a:bodyPr>
          <a:lstStyle/>
          <a:p>
            <a:pPr algn="ctr"/>
            <a:r>
              <a:rPr lang="en-US" sz="3200" b="1" dirty="0">
                <a:latin typeface="Times New Roman" panose="02020603050405020304" pitchFamily="18" charset="0"/>
                <a:cs typeface="Times New Roman" panose="02020603050405020304" pitchFamily="18" charset="0"/>
              </a:rPr>
              <a:t>RESULTS AND DISCUSSION:</a:t>
            </a:r>
            <a:endParaRPr lang="en-GB" sz="3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CB4D3031-0AEB-4687-8E23-04446010D3FF}" type="slidenum">
              <a:rPr lang="en-US" smtClean="0"/>
              <a:t>20</a:t>
            </a:fld>
            <a:endParaRPr lang="en-US"/>
          </a:p>
        </p:txBody>
      </p:sp>
      <p:graphicFrame>
        <p:nvGraphicFramePr>
          <p:cNvPr id="2" name="Table 1">
            <a:extLst>
              <a:ext uri="{FF2B5EF4-FFF2-40B4-BE49-F238E27FC236}">
                <a16:creationId xmlns:a16="http://schemas.microsoft.com/office/drawing/2014/main" id="{674B45EB-A523-6C5C-42EA-42B7763F4492}"/>
              </a:ext>
            </a:extLst>
          </p:cNvPr>
          <p:cNvGraphicFramePr>
            <a:graphicFrameLocks noGrp="1"/>
          </p:cNvGraphicFramePr>
          <p:nvPr>
            <p:extLst>
              <p:ext uri="{D42A27DB-BD31-4B8C-83A1-F6EECF244321}">
                <p14:modId xmlns:p14="http://schemas.microsoft.com/office/powerpoint/2010/main" val="1039085367"/>
              </p:ext>
            </p:extLst>
          </p:nvPr>
        </p:nvGraphicFramePr>
        <p:xfrm>
          <a:off x="2321616" y="1746913"/>
          <a:ext cx="7967297" cy="3916907"/>
        </p:xfrm>
        <a:graphic>
          <a:graphicData uri="http://schemas.openxmlformats.org/drawingml/2006/table">
            <a:tbl>
              <a:tblPr bandRow="1">
                <a:tableStyleId>{5C22544A-7EE6-4342-B048-85BDC9FD1C3A}</a:tableStyleId>
              </a:tblPr>
              <a:tblGrid>
                <a:gridCol w="4650465">
                  <a:extLst>
                    <a:ext uri="{9D8B030D-6E8A-4147-A177-3AD203B41FA5}">
                      <a16:colId xmlns:a16="http://schemas.microsoft.com/office/drawing/2014/main" val="4265100495"/>
                    </a:ext>
                  </a:extLst>
                </a:gridCol>
                <a:gridCol w="3316832">
                  <a:extLst>
                    <a:ext uri="{9D8B030D-6E8A-4147-A177-3AD203B41FA5}">
                      <a16:colId xmlns:a16="http://schemas.microsoft.com/office/drawing/2014/main" val="4280287934"/>
                    </a:ext>
                  </a:extLst>
                </a:gridCol>
              </a:tblGrid>
              <a:tr h="703867">
                <a:tc>
                  <a:txBody>
                    <a:bodyPr/>
                    <a:lstStyle/>
                    <a:p>
                      <a:pPr marL="0" marR="0" algn="just">
                        <a:lnSpc>
                          <a:spcPct val="107000"/>
                        </a:lnSpc>
                        <a:spcAft>
                          <a:spcPts val="1200"/>
                        </a:spcAft>
                        <a:buNone/>
                      </a:pPr>
                      <a:r>
                        <a:rPr lang="en-US" sz="1600" b="1" kern="0" dirty="0">
                          <a:solidFill>
                            <a:schemeClr val="bg1"/>
                          </a:solidFill>
                          <a:effectLst/>
                          <a:latin typeface="Times New Roman" panose="02020603050405020304" pitchFamily="18" charset="0"/>
                          <a:cs typeface="Times New Roman" panose="02020603050405020304" pitchFamily="18" charset="0"/>
                        </a:rPr>
                        <a:t>Hybrid Algorithm</a:t>
                      </a:r>
                      <a:endParaRPr lang="en-US" sz="14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C00000"/>
                    </a:solidFill>
                  </a:tcPr>
                </a:tc>
                <a:tc>
                  <a:txBody>
                    <a:bodyPr/>
                    <a:lstStyle/>
                    <a:p>
                      <a:pPr marL="0" marR="0" algn="just">
                        <a:lnSpc>
                          <a:spcPct val="107000"/>
                        </a:lnSpc>
                        <a:spcAft>
                          <a:spcPts val="1200"/>
                        </a:spcAft>
                        <a:buNone/>
                      </a:pPr>
                      <a:r>
                        <a:rPr lang="en-US" sz="1600" b="1" kern="0" dirty="0">
                          <a:solidFill>
                            <a:schemeClr val="bg1"/>
                          </a:solidFill>
                          <a:effectLst/>
                          <a:latin typeface="Times New Roman" panose="02020603050405020304" pitchFamily="18" charset="0"/>
                          <a:cs typeface="Times New Roman" panose="02020603050405020304" pitchFamily="18" charset="0"/>
                        </a:rPr>
                        <a:t>Accuracy of Algorithms</a:t>
                      </a:r>
                      <a:endParaRPr lang="en-US" sz="14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C00000"/>
                    </a:solidFill>
                  </a:tcPr>
                </a:tc>
                <a:extLst>
                  <a:ext uri="{0D108BD9-81ED-4DB2-BD59-A6C34878D82A}">
                    <a16:rowId xmlns:a16="http://schemas.microsoft.com/office/drawing/2014/main" val="1881744596"/>
                  </a:ext>
                </a:extLst>
              </a:tr>
              <a:tr h="891346">
                <a:tc>
                  <a:txBody>
                    <a:bodyPr/>
                    <a:lstStyle/>
                    <a:p>
                      <a:pPr marL="0" marR="0">
                        <a:lnSpc>
                          <a:spcPct val="150000"/>
                        </a:lnSpc>
                        <a:spcBef>
                          <a:spcPts val="1200"/>
                        </a:spcBef>
                        <a:buNone/>
                      </a:pPr>
                      <a:r>
                        <a:rPr lang="en-US" sz="1600" dirty="0">
                          <a:effectLst/>
                          <a:latin typeface="Times New Roman" panose="02020603050405020304" pitchFamily="18" charset="0"/>
                          <a:ea typeface="Calibri" panose="020F0502020204030204" pitchFamily="34" charset="0"/>
                        </a:rPr>
                        <a:t>Fuzzy C-Means, Multi-layer Perceptron (MLP) </a:t>
                      </a:r>
                      <a:r>
                        <a:rPr lang="en-US" sz="1600" b="1" dirty="0">
                          <a:effectLst/>
                          <a:latin typeface="Times New Roman" panose="02020603050405020304" pitchFamily="18" charset="0"/>
                          <a:ea typeface="Calibri" panose="020F0502020204030204" pitchFamily="34" charset="0"/>
                        </a:rPr>
                        <a:t>Proposed Method</a:t>
                      </a:r>
                      <a:endParaRPr lang="en-US" sz="1400" dirty="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spcBef>
                          <a:spcPts val="1200"/>
                        </a:spcBef>
                        <a:buNone/>
                      </a:pPr>
                      <a:r>
                        <a:rPr lang="en-US" sz="1600">
                          <a:effectLst/>
                          <a:latin typeface="Times New Roman" panose="02020603050405020304" pitchFamily="18" charset="0"/>
                          <a:ea typeface="Calibri" panose="020F0502020204030204" pitchFamily="34" charset="0"/>
                        </a:rPr>
                        <a:t>99.9314 %</a:t>
                      </a:r>
                      <a:endParaRPr lang="en-US" sz="14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608196191"/>
                  </a:ext>
                </a:extLst>
              </a:tr>
              <a:tr h="726481">
                <a:tc>
                  <a:txBody>
                    <a:bodyPr/>
                    <a:lstStyle/>
                    <a:p>
                      <a:pPr marL="0" marR="0">
                        <a:lnSpc>
                          <a:spcPct val="150000"/>
                        </a:lnSpc>
                        <a:spcBef>
                          <a:spcPts val="1200"/>
                        </a:spcBef>
                        <a:buNone/>
                      </a:pPr>
                      <a:r>
                        <a:rPr lang="en-US" sz="1600" dirty="0">
                          <a:effectLst/>
                          <a:latin typeface="Times New Roman" panose="02020603050405020304" pitchFamily="18" charset="0"/>
                          <a:ea typeface="Calibri" panose="020F0502020204030204" pitchFamily="34" charset="0"/>
                        </a:rPr>
                        <a:t>Fuzzy C-Means, Stochastic Gradient Descent (SGD) </a:t>
                      </a:r>
                      <a:r>
                        <a:rPr lang="en-US" sz="1600" b="1" dirty="0">
                          <a:effectLst/>
                          <a:latin typeface="Times New Roman" panose="02020603050405020304" pitchFamily="18" charset="0"/>
                          <a:ea typeface="Calibri" panose="020F0502020204030204" pitchFamily="34" charset="0"/>
                        </a:rPr>
                        <a:t>Proposed Method</a:t>
                      </a:r>
                      <a:endParaRPr lang="en-US" sz="1400" dirty="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spcBef>
                          <a:spcPts val="1200"/>
                        </a:spcBef>
                        <a:buNone/>
                      </a:pPr>
                      <a:r>
                        <a:rPr lang="en-US" sz="1600">
                          <a:effectLst/>
                          <a:latin typeface="Times New Roman" panose="02020603050405020304" pitchFamily="18" charset="0"/>
                          <a:ea typeface="Calibri" panose="020F0502020204030204" pitchFamily="34" charset="0"/>
                        </a:rPr>
                        <a:t>99.5771 %</a:t>
                      </a:r>
                      <a:endParaRPr lang="en-US" sz="14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71708790"/>
                  </a:ext>
                </a:extLst>
              </a:tr>
              <a:tr h="891346">
                <a:tc>
                  <a:txBody>
                    <a:bodyPr/>
                    <a:lstStyle/>
                    <a:p>
                      <a:pPr marL="0" marR="0">
                        <a:lnSpc>
                          <a:spcPct val="150000"/>
                        </a:lnSpc>
                        <a:spcBef>
                          <a:spcPts val="1200"/>
                        </a:spcBef>
                        <a:buNone/>
                      </a:pPr>
                      <a:r>
                        <a:rPr lang="en-US" sz="1600" dirty="0">
                          <a:effectLst/>
                          <a:latin typeface="Times New Roman" panose="02020603050405020304" pitchFamily="18" charset="0"/>
                          <a:ea typeface="Calibri" panose="020F0502020204030204" pitchFamily="34" charset="0"/>
                        </a:rPr>
                        <a:t>Fuzzy C-Means, </a:t>
                      </a:r>
                      <a:r>
                        <a:rPr lang="en-US" sz="1600" b="0" dirty="0">
                          <a:solidFill>
                            <a:schemeClr val="tx1">
                              <a:lumMod val="95000"/>
                              <a:lumOff val="5000"/>
                            </a:schemeClr>
                          </a:solidFill>
                          <a:effectLst/>
                          <a:latin typeface="Times New Roman" panose="02020603050405020304" pitchFamily="18" charset="0"/>
                          <a:ea typeface="Calibri" panose="020F0502020204030204" pitchFamily="34" charset="0"/>
                        </a:rPr>
                        <a:t>Support Vector Machine (SVM)</a:t>
                      </a:r>
                      <a:r>
                        <a:rPr lang="en-US" sz="1600" b="0" kern="100" dirty="0">
                          <a:solidFill>
                            <a:schemeClr val="tx1">
                              <a:lumMod val="95000"/>
                              <a:lumOff val="5000"/>
                            </a:schemeClr>
                          </a:solidFill>
                          <a:effectLst/>
                          <a:latin typeface="Times New Roman" panose="02020603050405020304" pitchFamily="18" charset="0"/>
                          <a:ea typeface="Calibri" panose="020F0502020204030204" pitchFamily="34" charset="0"/>
                          <a:cs typeface="Arial" panose="020B0604020202020204" pitchFamily="34" charset="0"/>
                        </a:rPr>
                        <a:t> </a:t>
                      </a:r>
                      <a:r>
                        <a:rPr lang="en-US" sz="1600" b="1" dirty="0">
                          <a:effectLst/>
                          <a:latin typeface="Times New Roman" panose="02020603050405020304" pitchFamily="18" charset="0"/>
                          <a:ea typeface="Calibri" panose="020F0502020204030204" pitchFamily="34" charset="0"/>
                        </a:rPr>
                        <a:t>Proposed Method</a:t>
                      </a:r>
                      <a:endParaRPr lang="en-US" sz="1400" dirty="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spcBef>
                          <a:spcPts val="1200"/>
                        </a:spcBef>
                        <a:buNone/>
                      </a:pPr>
                      <a:r>
                        <a:rPr lang="en-US" sz="1600" dirty="0">
                          <a:effectLst/>
                          <a:latin typeface="Times New Roman" panose="02020603050405020304" pitchFamily="18" charset="0"/>
                          <a:ea typeface="Calibri" panose="020F0502020204030204" pitchFamily="34" charset="0"/>
                        </a:rPr>
                        <a:t>99.4571 %</a:t>
                      </a:r>
                      <a:endParaRPr lang="en-US" sz="14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140516183"/>
                  </a:ext>
                </a:extLst>
              </a:tr>
              <a:tr h="703867">
                <a:tc>
                  <a:txBody>
                    <a:bodyPr/>
                    <a:lstStyle/>
                    <a:p>
                      <a:pPr marL="0" marR="0">
                        <a:lnSpc>
                          <a:spcPct val="150000"/>
                        </a:lnSpc>
                        <a:spcBef>
                          <a:spcPts val="1200"/>
                        </a:spcBef>
                        <a:buNone/>
                      </a:pPr>
                      <a:r>
                        <a:rPr lang="en-US" sz="1600" dirty="0">
                          <a:effectLst/>
                          <a:latin typeface="Times New Roman" panose="02020603050405020304" pitchFamily="18" charset="0"/>
                          <a:ea typeface="Calibri" panose="020F0502020204030204" pitchFamily="34" charset="0"/>
                        </a:rPr>
                        <a:t>Fuzzy C-Means, Quadratic Discriminant Analysis (QDA) </a:t>
                      </a:r>
                      <a:r>
                        <a:rPr lang="en-US" sz="1600" b="1" dirty="0">
                          <a:effectLst/>
                          <a:latin typeface="Times New Roman" panose="02020603050405020304" pitchFamily="18" charset="0"/>
                          <a:ea typeface="Calibri" panose="020F0502020204030204" pitchFamily="34" charset="0"/>
                        </a:rPr>
                        <a:t>Proposed Method</a:t>
                      </a:r>
                      <a:endParaRPr lang="en-US" sz="1400" dirty="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50000"/>
                        </a:lnSpc>
                        <a:spcBef>
                          <a:spcPts val="1200"/>
                        </a:spcBef>
                        <a:buNone/>
                      </a:pPr>
                      <a:r>
                        <a:rPr lang="en-US" sz="1600" dirty="0">
                          <a:effectLst/>
                          <a:latin typeface="Times New Roman" panose="02020603050405020304" pitchFamily="18" charset="0"/>
                          <a:ea typeface="Calibri" panose="020F0502020204030204" pitchFamily="34" charset="0"/>
                        </a:rPr>
                        <a:t>97.7085 %</a:t>
                      </a:r>
                      <a:endParaRPr lang="en-US" sz="14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533895743"/>
                  </a:ext>
                </a:extLst>
              </a:tr>
            </a:tbl>
          </a:graphicData>
        </a:graphic>
      </p:graphicFrame>
    </p:spTree>
    <p:extLst>
      <p:ext uri="{BB962C8B-B14F-4D97-AF65-F5344CB8AC3E}">
        <p14:creationId xmlns:p14="http://schemas.microsoft.com/office/powerpoint/2010/main" val="1168176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5C94-69F4-E3C5-757E-87725A8C695F}"/>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015FF69F-6A37-A46A-7CA5-8F2A5E266837}"/>
              </a:ext>
            </a:extLst>
          </p:cNvPr>
          <p:cNvSpPr>
            <a:spLocks noGrp="1"/>
          </p:cNvSpPr>
          <p:nvPr>
            <p:ph type="title"/>
          </p:nvPr>
        </p:nvSpPr>
        <p:spPr>
          <a:xfrm>
            <a:off x="2811438" y="517289"/>
            <a:ext cx="6987655" cy="635618"/>
          </a:xfrm>
        </p:spPr>
        <p:txBody>
          <a:bodyPr>
            <a:noAutofit/>
          </a:bodyPr>
          <a:lstStyle/>
          <a:p>
            <a:pPr algn="ctr"/>
            <a:r>
              <a:rPr lang="en-US" sz="3200" b="1" dirty="0">
                <a:latin typeface="Times New Roman" panose="02020603050405020304" pitchFamily="18" charset="0"/>
                <a:cs typeface="Times New Roman" panose="02020603050405020304" pitchFamily="18" charset="0"/>
              </a:rPr>
              <a:t>RESULTS AND DISCUSSION:</a:t>
            </a:r>
            <a:endParaRPr lang="en-GB" sz="32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76A32A19-FCA3-1044-8AB1-49E3C4C70AFE}"/>
              </a:ext>
            </a:extLst>
          </p:cNvPr>
          <p:cNvSpPr>
            <a:spLocks noGrp="1"/>
          </p:cNvSpPr>
          <p:nvPr>
            <p:ph type="sldNum" sz="quarter" idx="12"/>
          </p:nvPr>
        </p:nvSpPr>
        <p:spPr/>
        <p:txBody>
          <a:bodyPr/>
          <a:lstStyle/>
          <a:p>
            <a:fld id="{CB4D3031-0AEB-4687-8E23-04446010D3FF}" type="slidenum">
              <a:rPr lang="en-US" smtClean="0"/>
              <a:t>21</a:t>
            </a:fld>
            <a:endParaRPr lang="en-US"/>
          </a:p>
        </p:txBody>
      </p:sp>
      <p:graphicFrame>
        <p:nvGraphicFramePr>
          <p:cNvPr id="4" name="Table 3">
            <a:extLst>
              <a:ext uri="{FF2B5EF4-FFF2-40B4-BE49-F238E27FC236}">
                <a16:creationId xmlns:a16="http://schemas.microsoft.com/office/drawing/2014/main" id="{6CBC6F21-5CEC-2C6F-2619-E1C599F02701}"/>
              </a:ext>
            </a:extLst>
          </p:cNvPr>
          <p:cNvGraphicFramePr>
            <a:graphicFrameLocks noGrp="1"/>
          </p:cNvGraphicFramePr>
          <p:nvPr>
            <p:extLst>
              <p:ext uri="{D42A27DB-BD31-4B8C-83A1-F6EECF244321}">
                <p14:modId xmlns:p14="http://schemas.microsoft.com/office/powerpoint/2010/main" val="3893968843"/>
              </p:ext>
            </p:extLst>
          </p:nvPr>
        </p:nvGraphicFramePr>
        <p:xfrm>
          <a:off x="1801504" y="1637731"/>
          <a:ext cx="9266831" cy="3384645"/>
        </p:xfrm>
        <a:graphic>
          <a:graphicData uri="http://schemas.openxmlformats.org/drawingml/2006/table">
            <a:tbl>
              <a:tblPr bandRow="1">
                <a:tableStyleId>{5C22544A-7EE6-4342-B048-85BDC9FD1C3A}</a:tableStyleId>
              </a:tblPr>
              <a:tblGrid>
                <a:gridCol w="846261">
                  <a:extLst>
                    <a:ext uri="{9D8B030D-6E8A-4147-A177-3AD203B41FA5}">
                      <a16:colId xmlns:a16="http://schemas.microsoft.com/office/drawing/2014/main" val="1380262877"/>
                    </a:ext>
                  </a:extLst>
                </a:gridCol>
                <a:gridCol w="1419197">
                  <a:extLst>
                    <a:ext uri="{9D8B030D-6E8A-4147-A177-3AD203B41FA5}">
                      <a16:colId xmlns:a16="http://schemas.microsoft.com/office/drawing/2014/main" val="645012901"/>
                    </a:ext>
                  </a:extLst>
                </a:gridCol>
                <a:gridCol w="1513811">
                  <a:extLst>
                    <a:ext uri="{9D8B030D-6E8A-4147-A177-3AD203B41FA5}">
                      <a16:colId xmlns:a16="http://schemas.microsoft.com/office/drawing/2014/main" val="418295109"/>
                    </a:ext>
                  </a:extLst>
                </a:gridCol>
                <a:gridCol w="1892263">
                  <a:extLst>
                    <a:ext uri="{9D8B030D-6E8A-4147-A177-3AD203B41FA5}">
                      <a16:colId xmlns:a16="http://schemas.microsoft.com/office/drawing/2014/main" val="3366395167"/>
                    </a:ext>
                  </a:extLst>
                </a:gridCol>
                <a:gridCol w="1892263">
                  <a:extLst>
                    <a:ext uri="{9D8B030D-6E8A-4147-A177-3AD203B41FA5}">
                      <a16:colId xmlns:a16="http://schemas.microsoft.com/office/drawing/2014/main" val="94396252"/>
                    </a:ext>
                  </a:extLst>
                </a:gridCol>
                <a:gridCol w="1703036">
                  <a:extLst>
                    <a:ext uri="{9D8B030D-6E8A-4147-A177-3AD203B41FA5}">
                      <a16:colId xmlns:a16="http://schemas.microsoft.com/office/drawing/2014/main" val="279843977"/>
                    </a:ext>
                  </a:extLst>
                </a:gridCol>
              </a:tblGrid>
              <a:tr h="1173708">
                <a:tc>
                  <a:txBody>
                    <a:bodyPr/>
                    <a:lstStyle/>
                    <a:p>
                      <a:pPr marL="0" marR="0" algn="ctr">
                        <a:lnSpc>
                          <a:spcPct val="150000"/>
                        </a:lnSpc>
                        <a:spcBef>
                          <a:spcPts val="1200"/>
                        </a:spcBef>
                        <a:buNone/>
                      </a:pPr>
                      <a:r>
                        <a:rPr lang="en-US" sz="1600" b="1" dirty="0">
                          <a:solidFill>
                            <a:schemeClr val="bg1"/>
                          </a:solidFill>
                          <a:effectLst/>
                          <a:latin typeface="Times New Roman" panose="02020603050405020304" pitchFamily="18" charset="0"/>
                          <a:ea typeface="Calibri" panose="020F0502020204030204" pitchFamily="34" charset="0"/>
                        </a:rPr>
                        <a:t>S/No.</a:t>
                      </a:r>
                      <a:endParaRPr lang="en-US" sz="1600" dirty="0">
                        <a:solidFill>
                          <a:schemeClr val="bg1"/>
                        </a:solidFill>
                        <a:effectLst/>
                        <a:latin typeface="Calibri" panose="020F0502020204030204" pitchFamily="34" charset="0"/>
                        <a:ea typeface="Calibri" panose="020F0502020204030204" pitchFamily="34" charset="0"/>
                      </a:endParaRPr>
                    </a:p>
                    <a:p>
                      <a:pPr marL="0" marR="0" algn="ctr">
                        <a:lnSpc>
                          <a:spcPct val="150000"/>
                        </a:lnSpc>
                        <a:spcBef>
                          <a:spcPts val="1200"/>
                        </a:spcBef>
                        <a:buNone/>
                      </a:pPr>
                      <a:r>
                        <a:rPr lang="en-US" sz="1600" b="1" dirty="0">
                          <a:solidFill>
                            <a:schemeClr val="bg1"/>
                          </a:solidFill>
                          <a:effectLst/>
                          <a:latin typeface="Times New Roman" panose="02020603050405020304" pitchFamily="18" charset="0"/>
                          <a:ea typeface="Calibri" panose="020F0502020204030204" pitchFamily="34" charset="0"/>
                        </a:rPr>
                        <a:t> </a:t>
                      </a:r>
                      <a:endParaRPr lang="en-US" sz="1600" dirty="0">
                        <a:solidFill>
                          <a:schemeClr val="bg1"/>
                        </a:solidFill>
                        <a:effectLst/>
                        <a:latin typeface="Calibri" panose="020F0502020204030204" pitchFamily="34" charset="0"/>
                        <a:ea typeface="Calibri" panose="020F0502020204030204" pitchFamily="34" charset="0"/>
                      </a:endParaRPr>
                    </a:p>
                  </a:txBody>
                  <a:tcPr marL="68580" marR="68580" marT="0" marB="0">
                    <a:solidFill>
                      <a:srgbClr val="C00000"/>
                    </a:solidFill>
                  </a:tcPr>
                </a:tc>
                <a:tc>
                  <a:txBody>
                    <a:bodyPr/>
                    <a:lstStyle/>
                    <a:p>
                      <a:pPr marL="0" marR="0" algn="ctr">
                        <a:lnSpc>
                          <a:spcPct val="150000"/>
                        </a:lnSpc>
                        <a:spcBef>
                          <a:spcPts val="1200"/>
                        </a:spcBef>
                        <a:buNone/>
                      </a:pPr>
                      <a:r>
                        <a:rPr lang="en-US" sz="1600" b="1" dirty="0">
                          <a:solidFill>
                            <a:schemeClr val="bg1"/>
                          </a:solidFill>
                          <a:effectLst/>
                          <a:latin typeface="Times New Roman" panose="02020603050405020304" pitchFamily="18" charset="0"/>
                          <a:ea typeface="Calibri" panose="020F0502020204030204" pitchFamily="34" charset="0"/>
                        </a:rPr>
                        <a:t>Parameter Score</a:t>
                      </a:r>
                      <a:endParaRPr lang="en-US" sz="1600" dirty="0">
                        <a:solidFill>
                          <a:schemeClr val="bg1"/>
                        </a:solidFill>
                        <a:effectLst/>
                        <a:latin typeface="Calibri" panose="020F0502020204030204" pitchFamily="34" charset="0"/>
                        <a:ea typeface="Calibri" panose="020F0502020204030204" pitchFamily="34" charset="0"/>
                      </a:endParaRPr>
                    </a:p>
                  </a:txBody>
                  <a:tcPr marL="68580" marR="68580" marT="0" marB="0">
                    <a:solidFill>
                      <a:srgbClr val="C00000"/>
                    </a:solidFill>
                  </a:tcPr>
                </a:tc>
                <a:tc>
                  <a:txBody>
                    <a:bodyPr/>
                    <a:lstStyle/>
                    <a:p>
                      <a:pPr marL="0" marR="0" algn="ctr">
                        <a:lnSpc>
                          <a:spcPct val="150000"/>
                        </a:lnSpc>
                        <a:spcBef>
                          <a:spcPts val="1200"/>
                        </a:spcBef>
                        <a:buNone/>
                      </a:pPr>
                      <a:r>
                        <a:rPr lang="en-US" sz="1600" b="1" dirty="0">
                          <a:solidFill>
                            <a:schemeClr val="bg1"/>
                          </a:solidFill>
                          <a:effectLst/>
                          <a:latin typeface="Times New Roman" panose="02020603050405020304" pitchFamily="18" charset="0"/>
                          <a:ea typeface="Calibri" panose="020F0502020204030204" pitchFamily="34" charset="0"/>
                        </a:rPr>
                        <a:t>Multi-layer Perceptron (MLP) </a:t>
                      </a:r>
                      <a:endParaRPr lang="en-US" sz="1600" dirty="0">
                        <a:solidFill>
                          <a:schemeClr val="bg1"/>
                        </a:solidFill>
                        <a:effectLst/>
                        <a:latin typeface="Calibri" panose="020F0502020204030204" pitchFamily="34" charset="0"/>
                        <a:ea typeface="Calibri" panose="020F0502020204030204" pitchFamily="34" charset="0"/>
                      </a:endParaRPr>
                    </a:p>
                  </a:txBody>
                  <a:tcPr marL="68580" marR="68580" marT="0" marB="0">
                    <a:solidFill>
                      <a:srgbClr val="C00000"/>
                    </a:solidFill>
                  </a:tcPr>
                </a:tc>
                <a:tc>
                  <a:txBody>
                    <a:bodyPr/>
                    <a:lstStyle/>
                    <a:p>
                      <a:pPr marL="0" marR="0" algn="ctr">
                        <a:lnSpc>
                          <a:spcPct val="150000"/>
                        </a:lnSpc>
                        <a:spcBef>
                          <a:spcPts val="1200"/>
                        </a:spcBef>
                        <a:buNone/>
                      </a:pPr>
                      <a:r>
                        <a:rPr lang="en-US" sz="1600" b="1" dirty="0">
                          <a:solidFill>
                            <a:schemeClr val="bg1"/>
                          </a:solidFill>
                          <a:effectLst/>
                          <a:latin typeface="Times New Roman" panose="02020603050405020304" pitchFamily="18" charset="0"/>
                          <a:ea typeface="Calibri" panose="020F0502020204030204" pitchFamily="34" charset="0"/>
                        </a:rPr>
                        <a:t>Stochastic Gradient Descent (SGD)</a:t>
                      </a:r>
                      <a:endParaRPr lang="en-US" sz="1600" dirty="0">
                        <a:solidFill>
                          <a:schemeClr val="bg1"/>
                        </a:solidFill>
                        <a:effectLst/>
                        <a:latin typeface="Calibri" panose="020F0502020204030204" pitchFamily="34" charset="0"/>
                        <a:ea typeface="Calibri" panose="020F0502020204030204" pitchFamily="34" charset="0"/>
                      </a:endParaRPr>
                    </a:p>
                  </a:txBody>
                  <a:tcPr marL="68580" marR="68580" marT="0" marB="0">
                    <a:solidFill>
                      <a:srgbClr val="C00000"/>
                    </a:solidFill>
                  </a:tcPr>
                </a:tc>
                <a:tc>
                  <a:txBody>
                    <a:bodyPr/>
                    <a:lstStyle/>
                    <a:p>
                      <a:pPr marL="0" marR="0" algn="ctr">
                        <a:lnSpc>
                          <a:spcPct val="150000"/>
                        </a:lnSpc>
                        <a:spcBef>
                          <a:spcPts val="1200"/>
                        </a:spcBef>
                        <a:buNone/>
                      </a:pPr>
                      <a:r>
                        <a:rPr lang="en-US" sz="1600" b="1" dirty="0">
                          <a:solidFill>
                            <a:schemeClr val="bg1"/>
                          </a:solidFill>
                          <a:effectLst/>
                          <a:latin typeface="Times New Roman" panose="02020603050405020304" pitchFamily="18" charset="0"/>
                          <a:ea typeface="Calibri" panose="020F0502020204030204" pitchFamily="34" charset="0"/>
                        </a:rPr>
                        <a:t>Support Vector Machine (SVM)</a:t>
                      </a:r>
                      <a:endParaRPr lang="en-US" sz="1600" dirty="0">
                        <a:solidFill>
                          <a:schemeClr val="bg1"/>
                        </a:solidFill>
                        <a:effectLst/>
                        <a:latin typeface="Calibri" panose="020F0502020204030204" pitchFamily="34" charset="0"/>
                        <a:ea typeface="Calibri" panose="020F0502020204030204" pitchFamily="34" charset="0"/>
                      </a:endParaRPr>
                    </a:p>
                  </a:txBody>
                  <a:tcPr marL="68580" marR="68580" marT="0" marB="0">
                    <a:solidFill>
                      <a:srgbClr val="C00000"/>
                    </a:solidFill>
                  </a:tcPr>
                </a:tc>
                <a:tc>
                  <a:txBody>
                    <a:bodyPr/>
                    <a:lstStyle/>
                    <a:p>
                      <a:pPr marL="0" marR="0" algn="ctr">
                        <a:lnSpc>
                          <a:spcPct val="150000"/>
                        </a:lnSpc>
                        <a:spcBef>
                          <a:spcPts val="1200"/>
                        </a:spcBef>
                        <a:buNone/>
                      </a:pPr>
                      <a:r>
                        <a:rPr lang="en-US" sz="1600" b="1" dirty="0">
                          <a:solidFill>
                            <a:schemeClr val="bg1"/>
                          </a:solidFill>
                          <a:effectLst/>
                          <a:latin typeface="Times New Roman" panose="02020603050405020304" pitchFamily="18" charset="0"/>
                          <a:ea typeface="Calibri" panose="020F0502020204030204" pitchFamily="34" charset="0"/>
                        </a:rPr>
                        <a:t>Quadratic Discriminant Analysis (QDA)</a:t>
                      </a:r>
                      <a:endParaRPr lang="en-US" sz="1600" dirty="0">
                        <a:solidFill>
                          <a:schemeClr val="bg1"/>
                        </a:solidFill>
                        <a:effectLst/>
                        <a:latin typeface="Calibri" panose="020F0502020204030204" pitchFamily="34" charset="0"/>
                        <a:ea typeface="Calibri" panose="020F0502020204030204" pitchFamily="34" charset="0"/>
                      </a:endParaRPr>
                    </a:p>
                  </a:txBody>
                  <a:tcPr marL="68580" marR="68580" marT="0" marB="0">
                    <a:solidFill>
                      <a:srgbClr val="C00000"/>
                    </a:solidFill>
                  </a:tcPr>
                </a:tc>
                <a:extLst>
                  <a:ext uri="{0D108BD9-81ED-4DB2-BD59-A6C34878D82A}">
                    <a16:rowId xmlns:a16="http://schemas.microsoft.com/office/drawing/2014/main" val="1780662776"/>
                  </a:ext>
                </a:extLst>
              </a:tr>
              <a:tr h="504967">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1</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b="1">
                          <a:effectLst/>
                          <a:latin typeface="Times New Roman" panose="02020603050405020304" pitchFamily="18" charset="0"/>
                          <a:ea typeface="Calibri" panose="020F0502020204030204" pitchFamily="34" charset="0"/>
                        </a:rPr>
                        <a:t>Precision</a:t>
                      </a:r>
                      <a:endParaRPr lang="en-US" sz="1600" b="1">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0.99930661</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0.99572639</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0.99450991</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dirty="0">
                          <a:effectLst/>
                          <a:latin typeface="Times New Roman" panose="02020603050405020304" pitchFamily="18" charset="0"/>
                          <a:ea typeface="Calibri" panose="020F0502020204030204" pitchFamily="34" charset="0"/>
                        </a:rPr>
                        <a:t>0.97673897</a:t>
                      </a:r>
                      <a:endParaRPr lang="en-US" sz="16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878105668"/>
                  </a:ext>
                </a:extLst>
              </a:tr>
              <a:tr h="436728">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2</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b="1">
                          <a:effectLst/>
                          <a:latin typeface="Times New Roman" panose="02020603050405020304" pitchFamily="18" charset="0"/>
                          <a:ea typeface="Calibri" panose="020F0502020204030204" pitchFamily="34" charset="0"/>
                        </a:rPr>
                        <a:t>Recall</a:t>
                      </a:r>
                      <a:endParaRPr lang="en-US" sz="1600" b="1">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0.99931836</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dirty="0">
                          <a:effectLst/>
                          <a:latin typeface="Times New Roman" panose="02020603050405020304" pitchFamily="18" charset="0"/>
                          <a:ea typeface="Calibri" panose="020F0502020204030204" pitchFamily="34" charset="0"/>
                        </a:rPr>
                        <a:t>0.99579557</a:t>
                      </a:r>
                      <a:endParaRPr lang="en-US" sz="1600" dirty="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dirty="0">
                          <a:effectLst/>
                          <a:latin typeface="Times New Roman" panose="02020603050405020304" pitchFamily="18" charset="0"/>
                          <a:ea typeface="Calibri" panose="020F0502020204030204" pitchFamily="34" charset="0"/>
                        </a:rPr>
                        <a:t>0.99460712</a:t>
                      </a:r>
                      <a:endParaRPr lang="en-US" sz="1600" dirty="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dirty="0">
                          <a:effectLst/>
                          <a:latin typeface="Times New Roman" panose="02020603050405020304" pitchFamily="18" charset="0"/>
                          <a:ea typeface="Calibri" panose="020F0502020204030204" pitchFamily="34" charset="0"/>
                        </a:rPr>
                        <a:t>0.97765845</a:t>
                      </a:r>
                      <a:endParaRPr lang="en-US" sz="16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618626994"/>
                  </a:ext>
                </a:extLst>
              </a:tr>
              <a:tr h="436729">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3</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b="1">
                          <a:effectLst/>
                          <a:latin typeface="Times New Roman" panose="02020603050405020304" pitchFamily="18" charset="0"/>
                          <a:ea typeface="Calibri" panose="020F0502020204030204" pitchFamily="34" charset="0"/>
                        </a:rPr>
                        <a:t>F1-Score</a:t>
                      </a:r>
                      <a:endParaRPr lang="en-US" sz="1600" b="1">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0.99931247</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dirty="0">
                          <a:effectLst/>
                          <a:latin typeface="Times New Roman" panose="02020603050405020304" pitchFamily="18" charset="0"/>
                          <a:ea typeface="Calibri" panose="020F0502020204030204" pitchFamily="34" charset="0"/>
                        </a:rPr>
                        <a:t>0.99576051</a:t>
                      </a:r>
                      <a:endParaRPr lang="en-US" sz="1600" dirty="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0.99455757</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dirty="0">
                          <a:effectLst/>
                          <a:latin typeface="Times New Roman" panose="02020603050405020304" pitchFamily="18" charset="0"/>
                          <a:ea typeface="Calibri" panose="020F0502020204030204" pitchFamily="34" charset="0"/>
                        </a:rPr>
                        <a:t>0.97705055</a:t>
                      </a:r>
                      <a:endParaRPr lang="en-US" sz="16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705843445"/>
                  </a:ext>
                </a:extLst>
              </a:tr>
              <a:tr h="374060">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4</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b="1">
                          <a:effectLst/>
                          <a:latin typeface="Times New Roman" panose="02020603050405020304" pitchFamily="18" charset="0"/>
                          <a:ea typeface="Calibri" panose="020F0502020204030204" pitchFamily="34" charset="0"/>
                        </a:rPr>
                        <a:t>Sensitivity</a:t>
                      </a:r>
                      <a:endParaRPr lang="en-US" sz="1600" b="1">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1.0</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1.0</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1.0</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1.0</a:t>
                      </a:r>
                      <a:endParaRPr lang="en-US" sz="16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213652167"/>
                  </a:ext>
                </a:extLst>
              </a:tr>
              <a:tr h="458453">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5</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b="1" dirty="0">
                          <a:effectLst/>
                          <a:latin typeface="Times New Roman" panose="02020603050405020304" pitchFamily="18" charset="0"/>
                          <a:ea typeface="Calibri" panose="020F0502020204030204" pitchFamily="34" charset="0"/>
                        </a:rPr>
                        <a:t>Specificity</a:t>
                      </a:r>
                      <a:endParaRPr lang="en-US" sz="1600" b="1" dirty="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1.0</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1.0</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a:effectLst/>
                          <a:latin typeface="Times New Roman" panose="02020603050405020304" pitchFamily="18" charset="0"/>
                          <a:ea typeface="Calibri" panose="020F0502020204030204" pitchFamily="34" charset="0"/>
                        </a:rPr>
                        <a:t>1.0</a:t>
                      </a:r>
                      <a:endParaRPr lang="en-US" sz="16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50000"/>
                        </a:lnSpc>
                        <a:spcBef>
                          <a:spcPts val="1200"/>
                        </a:spcBef>
                        <a:buNone/>
                      </a:pPr>
                      <a:r>
                        <a:rPr lang="en-US" sz="1600" dirty="0">
                          <a:effectLst/>
                          <a:latin typeface="Times New Roman" panose="02020603050405020304" pitchFamily="18" charset="0"/>
                          <a:ea typeface="Calibri" panose="020F0502020204030204" pitchFamily="34" charset="0"/>
                        </a:rPr>
                        <a:t>1.0</a:t>
                      </a:r>
                      <a:endParaRPr lang="en-US" sz="16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029932951"/>
                  </a:ext>
                </a:extLst>
              </a:tr>
            </a:tbl>
          </a:graphicData>
        </a:graphic>
      </p:graphicFrame>
    </p:spTree>
    <p:extLst>
      <p:ext uri="{BB962C8B-B14F-4D97-AF65-F5344CB8AC3E}">
        <p14:creationId xmlns:p14="http://schemas.microsoft.com/office/powerpoint/2010/main" val="4126421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9DB04-331C-D8BC-2C23-A6FF94078E74}"/>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F56616D3-FD7B-AD29-3321-0366C6EB90F7}"/>
              </a:ext>
            </a:extLst>
          </p:cNvPr>
          <p:cNvSpPr>
            <a:spLocks noGrp="1"/>
          </p:cNvSpPr>
          <p:nvPr>
            <p:ph type="title"/>
          </p:nvPr>
        </p:nvSpPr>
        <p:spPr>
          <a:xfrm>
            <a:off x="2053177" y="512844"/>
            <a:ext cx="9206226" cy="1288659"/>
          </a:xfrm>
        </p:spPr>
        <p:txBody>
          <a:bodyPr>
            <a:noAutofit/>
          </a:bodyPr>
          <a:lstStyle/>
          <a:p>
            <a:pPr algn="ctr"/>
            <a:r>
              <a:rPr lang="en-US" sz="2800" b="1" dirty="0">
                <a:latin typeface="Times New Roman" panose="02020603050405020304" pitchFamily="18" charset="0"/>
                <a:cs typeface="Times New Roman" panose="02020603050405020304" pitchFamily="18" charset="0"/>
              </a:rPr>
              <a:t>Algorithm Combination Model Accuracy for Predicting Cardiovascular Disease </a:t>
            </a:r>
          </a:p>
        </p:txBody>
      </p:sp>
      <p:sp>
        <p:nvSpPr>
          <p:cNvPr id="3" name="Slide Number Placeholder 2">
            <a:extLst>
              <a:ext uri="{FF2B5EF4-FFF2-40B4-BE49-F238E27FC236}">
                <a16:creationId xmlns:a16="http://schemas.microsoft.com/office/drawing/2014/main" id="{506FE8D7-BE07-8998-CED2-ADA4A116957F}"/>
              </a:ext>
            </a:extLst>
          </p:cNvPr>
          <p:cNvSpPr>
            <a:spLocks noGrp="1"/>
          </p:cNvSpPr>
          <p:nvPr>
            <p:ph type="sldNum" sz="quarter" idx="12"/>
          </p:nvPr>
        </p:nvSpPr>
        <p:spPr/>
        <p:txBody>
          <a:bodyPr/>
          <a:lstStyle/>
          <a:p>
            <a:fld id="{CB4D3031-0AEB-4687-8E23-04446010D3FF}" type="slidenum">
              <a:rPr lang="en-US" smtClean="0"/>
              <a:t>22</a:t>
            </a:fld>
            <a:endParaRPr lang="en-US"/>
          </a:p>
        </p:txBody>
      </p:sp>
      <p:sp>
        <p:nvSpPr>
          <p:cNvPr id="7" name="TextBox 6">
            <a:extLst>
              <a:ext uri="{FF2B5EF4-FFF2-40B4-BE49-F238E27FC236}">
                <a16:creationId xmlns:a16="http://schemas.microsoft.com/office/drawing/2014/main" id="{A61F8490-071A-73DA-E493-8AEF862B5E8A}"/>
              </a:ext>
            </a:extLst>
          </p:cNvPr>
          <p:cNvSpPr txBox="1"/>
          <p:nvPr/>
        </p:nvSpPr>
        <p:spPr>
          <a:xfrm>
            <a:off x="1882380" y="5975824"/>
            <a:ext cx="9055898" cy="369332"/>
          </a:xfrm>
          <a:prstGeom prst="rect">
            <a:avLst/>
          </a:prstGeom>
          <a:noFill/>
        </p:spPr>
        <p:txBody>
          <a:bodyPr wrap="square">
            <a:spAutoFit/>
          </a:bodyPr>
          <a:lstStyle/>
          <a:p>
            <a:r>
              <a:rPr lang="en-US" sz="1800" kern="0" dirty="0">
                <a:effectLst/>
                <a:latin typeface="Times New Roman" panose="02020603050405020304" pitchFamily="18" charset="0"/>
                <a:ea typeface="Calibri" panose="020F0502020204030204" pitchFamily="34" charset="0"/>
              </a:rPr>
              <a:t>Combination of Parameter Score and Algorithms for Predicting Cardiovascular Disease (CDP)</a:t>
            </a:r>
            <a:endParaRPr lang="en-US" dirty="0"/>
          </a:p>
        </p:txBody>
      </p:sp>
      <p:pic>
        <p:nvPicPr>
          <p:cNvPr id="2" name="Picture 1">
            <a:extLst>
              <a:ext uri="{FF2B5EF4-FFF2-40B4-BE49-F238E27FC236}">
                <a16:creationId xmlns:a16="http://schemas.microsoft.com/office/drawing/2014/main" id="{046DC982-8DCB-759D-0693-6C54AD1AAC94}"/>
              </a:ext>
            </a:extLst>
          </p:cNvPr>
          <p:cNvPicPr>
            <a:picLocks noChangeAspect="1"/>
          </p:cNvPicPr>
          <p:nvPr/>
        </p:nvPicPr>
        <p:blipFill rotWithShape="1">
          <a:blip r:embed="rId2">
            <a:extLst>
              <a:ext uri="{28A0092B-C50C-407E-A947-70E740481C1C}">
                <a14:useLocalDpi xmlns:a14="http://schemas.microsoft.com/office/drawing/2010/main" val="0"/>
              </a:ext>
            </a:extLst>
          </a:blip>
          <a:srcRect l="862" t="1486" r="785" b="1168"/>
          <a:stretch/>
        </p:blipFill>
        <p:spPr bwMode="auto">
          <a:xfrm>
            <a:off x="3013595" y="1664799"/>
            <a:ext cx="6793468" cy="40726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26751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5D74F-B53B-82DD-8C82-ABB557230801}"/>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846BE95F-73AC-F38E-FBD5-80D7812EC271}"/>
              </a:ext>
            </a:extLst>
          </p:cNvPr>
          <p:cNvSpPr>
            <a:spLocks noGrp="1"/>
          </p:cNvSpPr>
          <p:nvPr>
            <p:ph type="title"/>
          </p:nvPr>
        </p:nvSpPr>
        <p:spPr>
          <a:xfrm>
            <a:off x="2244245" y="352477"/>
            <a:ext cx="8496542" cy="870610"/>
          </a:xfrm>
        </p:spPr>
        <p:txBody>
          <a:bodyPr>
            <a:noAutofit/>
          </a:bodyPr>
          <a:lstStyle/>
          <a:p>
            <a:pPr algn="ctr"/>
            <a:r>
              <a:rPr lang="en-US" sz="2800" b="1" dirty="0">
                <a:latin typeface="Times New Roman" panose="02020603050405020304" pitchFamily="18" charset="0"/>
                <a:cs typeface="Times New Roman" panose="02020603050405020304" pitchFamily="18" charset="0"/>
              </a:rPr>
              <a:t>Combination of Algorithms Parameter Score for Predicting Cardiovascular Disease </a:t>
            </a:r>
          </a:p>
        </p:txBody>
      </p:sp>
      <p:sp>
        <p:nvSpPr>
          <p:cNvPr id="3" name="Slide Number Placeholder 2">
            <a:extLst>
              <a:ext uri="{FF2B5EF4-FFF2-40B4-BE49-F238E27FC236}">
                <a16:creationId xmlns:a16="http://schemas.microsoft.com/office/drawing/2014/main" id="{0AC571D5-328E-F331-DF88-EB730CF0A863}"/>
              </a:ext>
            </a:extLst>
          </p:cNvPr>
          <p:cNvSpPr>
            <a:spLocks noGrp="1"/>
          </p:cNvSpPr>
          <p:nvPr>
            <p:ph type="sldNum" sz="quarter" idx="12"/>
          </p:nvPr>
        </p:nvSpPr>
        <p:spPr/>
        <p:txBody>
          <a:bodyPr/>
          <a:lstStyle/>
          <a:p>
            <a:fld id="{CB4D3031-0AEB-4687-8E23-04446010D3FF}" type="slidenum">
              <a:rPr lang="en-US" smtClean="0"/>
              <a:t>23</a:t>
            </a:fld>
            <a:endParaRPr lang="en-US"/>
          </a:p>
        </p:txBody>
      </p:sp>
      <p:sp>
        <p:nvSpPr>
          <p:cNvPr id="7" name="TextBox 6">
            <a:extLst>
              <a:ext uri="{FF2B5EF4-FFF2-40B4-BE49-F238E27FC236}">
                <a16:creationId xmlns:a16="http://schemas.microsoft.com/office/drawing/2014/main" id="{9F08711E-80A5-AB96-88C4-E07B5366A11E}"/>
              </a:ext>
            </a:extLst>
          </p:cNvPr>
          <p:cNvSpPr txBox="1"/>
          <p:nvPr/>
        </p:nvSpPr>
        <p:spPr>
          <a:xfrm>
            <a:off x="2531254" y="6160490"/>
            <a:ext cx="8714501" cy="369332"/>
          </a:xfrm>
          <a:prstGeom prst="rect">
            <a:avLst/>
          </a:prstGeom>
          <a:noFill/>
        </p:spPr>
        <p:txBody>
          <a:bodyPr wrap="square">
            <a:spAutoFit/>
          </a:bodyPr>
          <a:lstStyle/>
          <a:p>
            <a:r>
              <a:rPr lang="en-US" sz="1800" kern="0" dirty="0">
                <a:effectLst/>
                <a:latin typeface="Times New Roman" panose="02020603050405020304" pitchFamily="18" charset="0"/>
                <a:ea typeface="Calibri" panose="020F0502020204030204" pitchFamily="34" charset="0"/>
              </a:rPr>
              <a:t>Combination of Algorithms Parameter Score for Predicting Cardiovascular Disease </a:t>
            </a:r>
            <a:endParaRPr lang="en-US" dirty="0"/>
          </a:p>
        </p:txBody>
      </p:sp>
      <p:pic>
        <p:nvPicPr>
          <p:cNvPr id="4" name="Picture 3">
            <a:extLst>
              <a:ext uri="{FF2B5EF4-FFF2-40B4-BE49-F238E27FC236}">
                <a16:creationId xmlns:a16="http://schemas.microsoft.com/office/drawing/2014/main" id="{480C7CEC-9E44-98E8-CA66-77B5598F3832}"/>
              </a:ext>
            </a:extLst>
          </p:cNvPr>
          <p:cNvPicPr>
            <a:picLocks noChangeAspect="1"/>
          </p:cNvPicPr>
          <p:nvPr/>
        </p:nvPicPr>
        <p:blipFill rotWithShape="1">
          <a:blip r:embed="rId2">
            <a:extLst>
              <a:ext uri="{28A0092B-C50C-407E-A947-70E740481C1C}">
                <a14:useLocalDpi xmlns:a14="http://schemas.microsoft.com/office/drawing/2010/main" val="0"/>
              </a:ext>
            </a:extLst>
          </a:blip>
          <a:srcRect l="739" t="823" r="906" b="1182"/>
          <a:stretch/>
        </p:blipFill>
        <p:spPr bwMode="auto">
          <a:xfrm>
            <a:off x="2899890" y="1559740"/>
            <a:ext cx="6912701" cy="424460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68239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4562918" y="787782"/>
            <a:ext cx="3421024" cy="625956"/>
          </a:xfrm>
        </p:spPr>
        <p:txBody>
          <a:bodyPr>
            <a:noAutofit/>
          </a:bodyPr>
          <a:lstStyle/>
          <a:p>
            <a:r>
              <a:rPr lang="en-US" b="1" dirty="0">
                <a:latin typeface="Times New Roman" panose="02020603050405020304" pitchFamily="18" charset="0"/>
                <a:cs typeface="Times New Roman" panose="02020603050405020304" pitchFamily="18" charset="0"/>
              </a:rPr>
              <a:t>CONCLUSION</a:t>
            </a:r>
          </a:p>
        </p:txBody>
      </p:sp>
      <p:sp>
        <p:nvSpPr>
          <p:cNvPr id="3" name="Slide Number Placeholder 2"/>
          <p:cNvSpPr>
            <a:spLocks noGrp="1"/>
          </p:cNvSpPr>
          <p:nvPr>
            <p:ph type="sldNum" sz="quarter" idx="12"/>
          </p:nvPr>
        </p:nvSpPr>
        <p:spPr/>
        <p:txBody>
          <a:bodyPr/>
          <a:lstStyle/>
          <a:p>
            <a:fld id="{CB4D3031-0AEB-4687-8E23-04446010D3FF}" type="slidenum">
              <a:rPr lang="en-US" smtClean="0"/>
              <a:t>24</a:t>
            </a:fld>
            <a:endParaRPr lang="en-US"/>
          </a:p>
        </p:txBody>
      </p:sp>
      <p:sp>
        <p:nvSpPr>
          <p:cNvPr id="4" name="Rectangle 3"/>
          <p:cNvSpPr/>
          <p:nvPr/>
        </p:nvSpPr>
        <p:spPr>
          <a:xfrm>
            <a:off x="2579427" y="1843950"/>
            <a:ext cx="7410734" cy="3170099"/>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In the study's conclusion, a technique that helps doctors correctly diagnose cardiovascular diseases and heart illness is presented. We applied several ML techniques, such as fuzzy C-Means clustering, MLP, SGD, SVM, and QDA, using datasets that contained cardiovascular disease (CVD) data. The combination of fuzzy C-Means and MLP yielded the greatest accuracy rate of 99.93%, demonstrating the tremendous efficiency of these categorization techniques. Accuracy values of 99.93% for MLP, 99.58% for with SGD, 99.46% for SVM, and 97.71% for QDA were obtained by combining each method with Fuzzy C-Means. </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6207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6475" y="2488195"/>
            <a:ext cx="6937668" cy="1785104"/>
          </a:xfrm>
          <a:prstGeom prst="rect">
            <a:avLst/>
          </a:prstGeom>
        </p:spPr>
        <p:txBody>
          <a:bodyPr wrap="none">
            <a:spAutoFit/>
          </a:bodyPr>
          <a:lstStyle/>
          <a:p>
            <a:pPr algn="just"/>
            <a:r>
              <a:rPr lang="en-GB" sz="5400" dirty="0">
                <a:latin typeface="Times New Roman" panose="02020603050405020304" pitchFamily="18" charset="0"/>
                <a:cs typeface="Times New Roman" panose="02020603050405020304" pitchFamily="18" charset="0"/>
              </a:rPr>
              <a:t>  </a:t>
            </a:r>
            <a:r>
              <a:rPr lang="en-GB" sz="5500" b="1" dirty="0">
                <a:latin typeface="Times New Roman" panose="02020603050405020304" pitchFamily="18" charset="0"/>
                <a:cs typeface="Times New Roman" panose="02020603050405020304" pitchFamily="18" charset="0"/>
              </a:rPr>
              <a:t>THANK YOU FOR </a:t>
            </a:r>
          </a:p>
          <a:p>
            <a:pPr algn="just"/>
            <a:r>
              <a:rPr lang="en-GB" sz="5500" b="1" dirty="0">
                <a:latin typeface="Times New Roman" panose="02020603050405020304" pitchFamily="18" charset="0"/>
                <a:cs typeface="Times New Roman" panose="02020603050405020304" pitchFamily="18" charset="0"/>
              </a:rPr>
              <a:t>YOUR TIME TODAY</a:t>
            </a:r>
          </a:p>
        </p:txBody>
      </p:sp>
      <p:sp>
        <p:nvSpPr>
          <p:cNvPr id="4" name="Slide Number Placeholder 3"/>
          <p:cNvSpPr>
            <a:spLocks noGrp="1"/>
          </p:cNvSpPr>
          <p:nvPr>
            <p:ph type="sldNum" sz="quarter" idx="12"/>
          </p:nvPr>
        </p:nvSpPr>
        <p:spPr/>
        <p:txBody>
          <a:bodyPr/>
          <a:lstStyle/>
          <a:p>
            <a:fld id="{CB4D3031-0AEB-4687-8E23-04446010D3FF}" type="slidenum">
              <a:rPr lang="en-US" smtClean="0"/>
              <a:t>25</a:t>
            </a:fld>
            <a:endParaRPr lang="en-US"/>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3114</TotalTime>
  <Words>1322</Words>
  <Application>Microsoft Office PowerPoint</Application>
  <PresentationFormat>Widescreen</PresentationFormat>
  <Paragraphs>205</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Century Gothic</vt:lpstr>
      <vt:lpstr>Times New Roman</vt:lpstr>
      <vt:lpstr>Wingdings</vt:lpstr>
      <vt:lpstr>Wingdings 3</vt:lpstr>
      <vt:lpstr>Wisp</vt:lpstr>
      <vt:lpstr>Machine Learning Approaches for Predicting Cardiovascular Diseases</vt:lpstr>
      <vt:lpstr>PowerPoint Presentation</vt:lpstr>
      <vt:lpstr>Outlines</vt:lpstr>
      <vt:lpstr>Introduction</vt:lpstr>
      <vt:lpstr>PowerPoint Presentation</vt:lpstr>
      <vt:lpstr>Tools &amp; Technologies Used</vt:lpstr>
      <vt:lpstr>Research Work </vt:lpstr>
      <vt:lpstr>Data Collection</vt:lpstr>
      <vt:lpstr>Parameters of the Dataset</vt:lpstr>
      <vt:lpstr>Data Collection</vt:lpstr>
      <vt:lpstr>Results and Discussion</vt:lpstr>
      <vt:lpstr>Model Parameters: </vt:lpstr>
      <vt:lpstr>FEATURE SELECTION</vt:lpstr>
      <vt:lpstr>FEATURE SELECTION</vt:lpstr>
      <vt:lpstr>FEATURE SELECTION</vt:lpstr>
      <vt:lpstr>Multi-Layer Perceptron Algorithm </vt:lpstr>
      <vt:lpstr>Stochastic Gradient Descent Algorithm</vt:lpstr>
      <vt:lpstr>Support Vector Machine Algorithm</vt:lpstr>
      <vt:lpstr>Quadratic Discriminant Analysis (QDA) Algorithm</vt:lpstr>
      <vt:lpstr>RESULTS AND DISCUSSION:</vt:lpstr>
      <vt:lpstr>RESULTS AND DISCUSSION:</vt:lpstr>
      <vt:lpstr>Algorithm Combination Model Accuracy for Predicting Cardiovascular Disease </vt:lpstr>
      <vt:lpstr>Combination of Algorithms Parameter Score for Predicting Cardiovascular Disease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FYP-Defence 1</dc:title>
  <dc:creator>Tabish Nadeem</dc:creator>
  <cp:lastModifiedBy>SALAHUDDIN,MUAFIA</cp:lastModifiedBy>
  <cp:revision>272</cp:revision>
  <dcterms:created xsi:type="dcterms:W3CDTF">2023-11-30T05:42:34Z</dcterms:created>
  <dcterms:modified xsi:type="dcterms:W3CDTF">2025-11-23T10:37:51Z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204bc99ef2804537acab07fcc0f84301</vt:lpwstr>
  </property>
</Properties>
</file>